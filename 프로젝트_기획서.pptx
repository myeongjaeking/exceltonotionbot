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1" r:id="rId3"/>
    <p:sldId id="265" r:id="rId4"/>
    <p:sldId id="264" r:id="rId5"/>
    <p:sldId id="266" r:id="rId6"/>
    <p:sldId id="267" r:id="rId7"/>
    <p:sldId id="270" r:id="rId8"/>
    <p:sldId id="271" r:id="rId9"/>
    <p:sldId id="268" r:id="rId10"/>
    <p:sldId id="269" r:id="rId11"/>
    <p:sldId id="272" r:id="rId12"/>
    <p:sldId id="260" r:id="rId13"/>
    <p:sldId id="262" r:id="rId14"/>
    <p:sldId id="273" r:id="rId15"/>
    <p:sldId id="274" r:id="rId16"/>
    <p:sldId id="275" r:id="rId17"/>
    <p:sldId id="263" r:id="rId18"/>
    <p:sldId id="279" r:id="rId19"/>
    <p:sldId id="276" r:id="rId20"/>
    <p:sldId id="281" r:id="rId21"/>
    <p:sldId id="280" r:id="rId22"/>
    <p:sldId id="277" r:id="rId23"/>
    <p:sldId id="282" r:id="rId24"/>
    <p:sldId id="27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725"/>
  </p:normalViewPr>
  <p:slideViewPr>
    <p:cSldViewPr snapToGrid="0" showGuides="1">
      <p:cViewPr>
        <p:scale>
          <a:sx n="209" d="100"/>
          <a:sy n="209" d="100"/>
        </p:scale>
        <p:origin x="144" y="144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3" d="100"/>
          <a:sy n="93" d="100"/>
        </p:scale>
        <p:origin x="2864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F7279-3F0E-8346-8794-E9320D1637DE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A29C9-0A79-C84C-BCAE-42EF05095D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1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발표 시작하겠습니다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8541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레스토랑별 특성에 맞는 추천 주류와 추천 이유를 </a:t>
            </a:r>
            <a:r>
              <a:rPr kumimoji="1" lang="en-US" altLang="ko-KR" dirty="0"/>
              <a:t>AI </a:t>
            </a:r>
            <a:r>
              <a:rPr kumimoji="1" lang="ko-KR" altLang="en-US" dirty="0"/>
              <a:t>기반으로 자동 추천하여</a:t>
            </a:r>
            <a:endParaRPr kumimoji="1" lang="en-US" altLang="ko-KR" dirty="0"/>
          </a:p>
          <a:p>
            <a:r>
              <a:rPr kumimoji="1" lang="en-US" altLang="ko-KR" dirty="0"/>
              <a:t>B2B</a:t>
            </a:r>
            <a:r>
              <a:rPr kumimoji="1" lang="ko-KR" altLang="en-US" dirty="0"/>
              <a:t> 담당자의 반복 업무를 대체하는 것이 목표입니다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9237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추천 주류 </a:t>
            </a:r>
            <a:r>
              <a:rPr kumimoji="1" lang="en-US" altLang="ko-KR" dirty="0"/>
              <a:t>Top1</a:t>
            </a:r>
            <a:r>
              <a:rPr kumimoji="1" lang="ko-KR" altLang="en-US" dirty="0" err="1"/>
              <a:t>으로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70%</a:t>
            </a:r>
            <a:r>
              <a:rPr kumimoji="1" lang="ko-KR" altLang="en-US" dirty="0"/>
              <a:t> 이상으로 잡았습니다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수동 수정 필요가 </a:t>
            </a:r>
            <a:r>
              <a:rPr kumimoji="1" lang="en-US" altLang="ko-KR" dirty="0"/>
              <a:t>30%</a:t>
            </a:r>
            <a:r>
              <a:rPr kumimoji="1" lang="ko-KR" altLang="en-US" dirty="0"/>
              <a:t>일 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N</a:t>
            </a:r>
            <a:r>
              <a:rPr kumimoji="1" lang="ko-KR" altLang="en-US" dirty="0"/>
              <a:t>개 데이터 대 </a:t>
            </a:r>
            <a:r>
              <a:rPr kumimoji="1" lang="en-US" altLang="ko-KR" dirty="0"/>
              <a:t>120</a:t>
            </a:r>
            <a:r>
              <a:rPr kumimoji="1" lang="ko-KR" altLang="en-US" dirty="0"/>
              <a:t>분은 </a:t>
            </a:r>
            <a:r>
              <a:rPr kumimoji="1" lang="en-US" altLang="ko-KR" dirty="0"/>
              <a:t>0.3N</a:t>
            </a:r>
            <a:r>
              <a:rPr kumimoji="1" lang="ko-KR" altLang="en-US" dirty="0"/>
              <a:t> 대 </a:t>
            </a:r>
            <a:r>
              <a:rPr kumimoji="1" lang="en-US" altLang="ko-KR" dirty="0"/>
              <a:t>36</a:t>
            </a:r>
            <a:r>
              <a:rPr kumimoji="1" lang="ko-KR" altLang="en-US" dirty="0"/>
              <a:t>분으로</a:t>
            </a:r>
            <a:endParaRPr kumimoji="1" lang="en-US" altLang="ko-KR" dirty="0"/>
          </a:p>
          <a:p>
            <a:r>
              <a:rPr kumimoji="1" lang="ko-KR" altLang="en-US" dirty="0"/>
              <a:t>약 </a:t>
            </a:r>
            <a:r>
              <a:rPr kumimoji="1" lang="en-US" altLang="ko-KR" dirty="0"/>
              <a:t>3.33</a:t>
            </a:r>
            <a:r>
              <a:rPr kumimoji="1" lang="ko-KR" altLang="en-US" dirty="0"/>
              <a:t>배 효율이 증가합니다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70%</a:t>
            </a:r>
            <a:r>
              <a:rPr kumimoji="1" lang="ko-KR" altLang="en-US" dirty="0"/>
              <a:t>의 신뢰도는 낮다고 판단하여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Top3</a:t>
            </a:r>
            <a:r>
              <a:rPr kumimoji="1" lang="ko-KR" altLang="en-US" dirty="0"/>
              <a:t> 까지 고려하였습니다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Top3</a:t>
            </a:r>
            <a:r>
              <a:rPr kumimoji="1" lang="ko-KR" altLang="en-US" dirty="0"/>
              <a:t>의 목표 정확도는 </a:t>
            </a:r>
            <a:r>
              <a:rPr kumimoji="1" lang="en-US" altLang="ko-KR" dirty="0"/>
              <a:t>90%</a:t>
            </a:r>
            <a:r>
              <a:rPr kumimoji="1" lang="ko-KR" altLang="en-US" dirty="0"/>
              <a:t> 이상입니다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추천 이유 생성은</a:t>
            </a:r>
            <a:r>
              <a:rPr kumimoji="1" lang="en-US" altLang="ko-KR" dirty="0"/>
              <a:t>,</a:t>
            </a:r>
            <a:r>
              <a:rPr kumimoji="1" lang="ko-KR" altLang="en-US" dirty="0"/>
              <a:t> 기존 추천이유와 생성된 추천 이유 유사도가 </a:t>
            </a:r>
            <a:r>
              <a:rPr kumimoji="1" lang="en-US" altLang="ko-KR" dirty="0"/>
              <a:t>0.7</a:t>
            </a:r>
            <a:r>
              <a:rPr kumimoji="1" lang="ko-KR" altLang="en-US" dirty="0"/>
              <a:t> 이상으로 잡았습니다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실제 코사인 </a:t>
            </a:r>
            <a:r>
              <a:rPr kumimoji="1" lang="en-US" altLang="ko-KR" dirty="0"/>
              <a:t>45</a:t>
            </a:r>
            <a:r>
              <a:rPr kumimoji="1" lang="ko-KR" altLang="en-US" dirty="0"/>
              <a:t>도 값에 해당하는 </a:t>
            </a:r>
            <a:r>
              <a:rPr kumimoji="1" lang="en-US" altLang="ko-KR" dirty="0"/>
              <a:t>0.7.7</a:t>
            </a:r>
            <a:r>
              <a:rPr kumimoji="1" lang="ko-KR" altLang="en-US" dirty="0"/>
              <a:t>은 유사한 값이라는 논문을 확인해서 이렇게 잡았습니다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0699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Train/test </a:t>
            </a:r>
            <a:r>
              <a:rPr kumimoji="1" lang="ko-KR" altLang="en-US" dirty="0"/>
              <a:t>비율 </a:t>
            </a:r>
            <a:r>
              <a:rPr kumimoji="1" lang="en-US" altLang="ko-KR" dirty="0"/>
              <a:t>70:30</a:t>
            </a:r>
            <a:r>
              <a:rPr kumimoji="1" lang="ko-KR" altLang="en-US" dirty="0"/>
              <a:t> 과 </a:t>
            </a:r>
            <a:r>
              <a:rPr kumimoji="1" lang="en-US" altLang="ko-KR" dirty="0"/>
              <a:t>80:20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텍사스 대학교에서 연구를 진행하였는데요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수식을 넣어본 결과</a:t>
            </a:r>
            <a:r>
              <a:rPr kumimoji="1" lang="en-US" altLang="ko-KR" dirty="0"/>
              <a:t>,</a:t>
            </a:r>
            <a:r>
              <a:rPr kumimoji="1" lang="ko-KR" altLang="en-US" dirty="0"/>
              <a:t> 수학적으로 계산했을 때 </a:t>
            </a:r>
            <a:r>
              <a:rPr kumimoji="1" lang="en-US" altLang="ko-KR" dirty="0"/>
              <a:t>Train</a:t>
            </a:r>
            <a:r>
              <a:rPr kumimoji="1" lang="ko-KR" altLang="en-US" dirty="0"/>
              <a:t> 비율은 </a:t>
            </a:r>
            <a:r>
              <a:rPr kumimoji="1" lang="en-US" altLang="ko-KR" dirty="0"/>
              <a:t>80</a:t>
            </a:r>
            <a:r>
              <a:rPr kumimoji="1" lang="ko-KR" altLang="en-US" dirty="0"/>
              <a:t>이 이상적이라는 논문을 확인하여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Train/Test</a:t>
            </a:r>
            <a:r>
              <a:rPr kumimoji="1" lang="ko-KR" altLang="en-US" dirty="0"/>
              <a:t> 비율을 </a:t>
            </a:r>
            <a:r>
              <a:rPr kumimoji="1" lang="en-US" altLang="ko-KR" dirty="0"/>
              <a:t>80:20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잡았습니다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373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유사도 측정 방식으로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TF-IDF, </a:t>
            </a:r>
            <a:r>
              <a:rPr kumimoji="1" lang="ko-KR" altLang="en-US" dirty="0"/>
              <a:t>규칙 기반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결정 트리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임베딩을</a:t>
            </a:r>
            <a:r>
              <a:rPr kumimoji="1" lang="ko-KR" altLang="en-US" dirty="0"/>
              <a:t> 비교해보았습니다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TF-IDF</a:t>
            </a:r>
            <a:r>
              <a:rPr kumimoji="1" lang="ko-KR" altLang="en-US" dirty="0"/>
              <a:t>는 텍스트를 벡터로 표현하여 기본 키워드 매칭에 장점이 있지만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같은 의미의 소고기와 쇠고기의 유사도가 낮은 문제가 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규칙 기반은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if/else</a:t>
            </a:r>
            <a:r>
              <a:rPr kumimoji="1" lang="ko-KR" altLang="en-US" dirty="0"/>
              <a:t>문으로 초기 높은 성능을 보여주지만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음식점마다 수백 개 규칙이 필요한 문제가 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결정 트리는 정수로만 표현이 가능해 텍스트가 불필요하지만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저희는 텍스트 기반이기 때문에 제외하였습니다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 err="1"/>
              <a:t>임베딩은</a:t>
            </a:r>
            <a:r>
              <a:rPr kumimoji="1" lang="ko-KR" altLang="en-US" dirty="0"/>
              <a:t> 입력 데이터를 잘 활용할 수 있어서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임베딩을</a:t>
            </a:r>
            <a:r>
              <a:rPr kumimoji="1" lang="ko-KR" altLang="en-US" dirty="0"/>
              <a:t> 선택하였습니다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1582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열 가중치 계산을 통한 추천 주류 생성 로직으로</a:t>
            </a:r>
            <a:r>
              <a:rPr kumimoji="1" lang="en-US" altLang="ko-KR" dirty="0"/>
              <a:t>,</a:t>
            </a:r>
          </a:p>
          <a:p>
            <a:r>
              <a:rPr kumimoji="1" lang="en-US" altLang="ko-KR" dirty="0"/>
              <a:t>Baseline</a:t>
            </a:r>
            <a:r>
              <a:rPr kumimoji="1" lang="ko-KR" altLang="en-US" dirty="0"/>
              <a:t>을 가장 추천 주류에 영향을 준다고 판단한 음식종류</a:t>
            </a:r>
            <a:r>
              <a:rPr kumimoji="1" lang="en-US" altLang="ko-KR" dirty="0"/>
              <a:t>,</a:t>
            </a:r>
            <a:r>
              <a:rPr kumimoji="1" lang="ko-KR" altLang="en-US" dirty="0"/>
              <a:t> 평균가격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시그니처</a:t>
            </a:r>
            <a:r>
              <a:rPr kumimoji="1" lang="ko-KR" altLang="en-US" dirty="0"/>
              <a:t> 메뉴를 선택하였습니다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각 열 별로 가중치를 계산하기 위해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모든 기여도를 더한 후 각 기여도를 나누어 가중치를 계산했습니다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만약 모든 기여도의 합이 </a:t>
            </a:r>
            <a:r>
              <a:rPr kumimoji="1" lang="en-US" altLang="ko-KR" dirty="0"/>
              <a:t>10</a:t>
            </a:r>
            <a:r>
              <a:rPr kumimoji="1" lang="ko-KR" altLang="en-US" dirty="0"/>
              <a:t>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시그니처메뉴</a:t>
            </a:r>
            <a:r>
              <a:rPr kumimoji="1" lang="ko-KR" altLang="en-US" dirty="0"/>
              <a:t> 기여도가 </a:t>
            </a:r>
            <a:r>
              <a:rPr kumimoji="1" lang="en-US" altLang="ko-KR" dirty="0"/>
              <a:t>4</a:t>
            </a:r>
            <a:r>
              <a:rPr kumimoji="1" lang="ko-KR" altLang="en-US" dirty="0"/>
              <a:t>일 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가중치는 </a:t>
            </a:r>
            <a:r>
              <a:rPr kumimoji="1" lang="en-US" altLang="ko-KR" dirty="0"/>
              <a:t>0.4</a:t>
            </a:r>
            <a:r>
              <a:rPr kumimoji="1" lang="ko-KR" altLang="en-US" dirty="0"/>
              <a:t>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임베딩</a:t>
            </a:r>
            <a:r>
              <a:rPr kumimoji="1" lang="ko-KR" altLang="en-US" dirty="0"/>
              <a:t> 하기 전에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시그니처</a:t>
            </a:r>
            <a:r>
              <a:rPr kumimoji="1" lang="ko-KR" altLang="en-US" dirty="0"/>
              <a:t> 메뉴를 </a:t>
            </a:r>
            <a:r>
              <a:rPr kumimoji="1" lang="en-US" altLang="ko-KR" dirty="0"/>
              <a:t>4</a:t>
            </a:r>
            <a:r>
              <a:rPr kumimoji="1" lang="ko-KR" altLang="en-US" dirty="0"/>
              <a:t>번 반복하고 </a:t>
            </a:r>
            <a:r>
              <a:rPr kumimoji="1" lang="ko-KR" altLang="en-US" dirty="0" err="1"/>
              <a:t>임베딩합니다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1603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유사도에 따른 추천 이유 생성입니다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프롬프트를 활용할 건데요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필수 규칙으로는 기존 이유의 철학과 뉘앙스를 유지하도록 하였습니다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기존 추천 근거를 추천 주류의 유사도</a:t>
            </a:r>
            <a:r>
              <a:rPr kumimoji="1" lang="en-US" altLang="ko-KR" dirty="0"/>
              <a:t>%</a:t>
            </a:r>
            <a:r>
              <a:rPr kumimoji="1" lang="ko-KR" altLang="en-US" dirty="0"/>
              <a:t> 만큼 반영하고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100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추천 주류의 유사도는 새로운 내용을 작성하게 하도록 구상하였습니다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유사도의 </a:t>
            </a:r>
            <a:r>
              <a:rPr kumimoji="1" lang="ko-KR" altLang="en-US" dirty="0" err="1"/>
              <a:t>퍼센테이지에</a:t>
            </a:r>
            <a:r>
              <a:rPr kumimoji="1" lang="ko-KR" altLang="en-US" dirty="0"/>
              <a:t> 따라 기존 이유를 얼만큼 유지할지를 수치로 정할 수 있어 정했습니다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5872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LLM</a:t>
            </a:r>
            <a:r>
              <a:rPr kumimoji="1" lang="ko-KR" altLang="en-US" dirty="0"/>
              <a:t> 모델 선정으로는 </a:t>
            </a:r>
            <a:r>
              <a:rPr kumimoji="1" lang="ko-KR" altLang="en-US" dirty="0" err="1"/>
              <a:t>클로드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GPT, </a:t>
            </a:r>
            <a:r>
              <a:rPr kumimoji="1" lang="ko-KR" altLang="en-US" dirty="0"/>
              <a:t>제미나이</a:t>
            </a:r>
            <a:r>
              <a:rPr kumimoji="1" lang="en-US" altLang="ko-KR" dirty="0"/>
              <a:t>-</a:t>
            </a:r>
            <a:r>
              <a:rPr kumimoji="1" lang="ko-KR" altLang="en-US" dirty="0"/>
              <a:t>플래쉬를 비교하였습니다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현재 프로젝트에서는</a:t>
            </a:r>
            <a:r>
              <a:rPr kumimoji="1" lang="en-US" altLang="ko-KR" dirty="0"/>
              <a:t> </a:t>
            </a:r>
            <a:r>
              <a:rPr kumimoji="1" lang="ko-KR" altLang="en-US" dirty="0"/>
              <a:t>자연어 처리 및 텍스트 생성만 존재하여 제미나이</a:t>
            </a:r>
            <a:r>
              <a:rPr kumimoji="1" lang="en-US" altLang="ko-KR" dirty="0"/>
              <a:t>-</a:t>
            </a:r>
            <a:r>
              <a:rPr kumimoji="1" lang="ko-KR" altLang="en-US" dirty="0"/>
              <a:t>플래쉬를 선택하였습니다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9626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임베딩</a:t>
            </a:r>
            <a:r>
              <a:rPr kumimoji="1" lang="ko-KR" altLang="en-US" dirty="0"/>
              <a:t> 크기에 따른 성능 비교입니다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모델이 비교적 가볍고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다국어중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한국어 특화된 모델인 </a:t>
            </a:r>
            <a:r>
              <a:rPr kumimoji="1" lang="ko-KR" altLang="en-US" dirty="0" err="1"/>
              <a:t>멀티랭귤</a:t>
            </a:r>
            <a:r>
              <a:rPr kumimoji="1" lang="en-US" altLang="ko-KR" dirty="0"/>
              <a:t>-e5-small-ko-v2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NDCG</a:t>
            </a:r>
            <a:r>
              <a:rPr kumimoji="1" lang="ko-KR" altLang="en-US" dirty="0"/>
              <a:t>는 검색 결과나 추천에서 랭킹 성능을 </a:t>
            </a:r>
            <a:r>
              <a:rPr kumimoji="1" lang="ko-KR" altLang="en-US" dirty="0" err="1"/>
              <a:t>측하기</a:t>
            </a:r>
            <a:r>
              <a:rPr kumimoji="1" lang="ko-KR" altLang="en-US" dirty="0"/>
              <a:t> 위한 지표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9525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메서드는 앞서 말씀드렸던 </a:t>
            </a:r>
            <a:r>
              <a:rPr kumimoji="1" lang="ko-KR" altLang="en-US" dirty="0" err="1"/>
              <a:t>임베딩</a:t>
            </a:r>
            <a:r>
              <a:rPr kumimoji="1" lang="ko-KR" altLang="en-US" dirty="0"/>
              <a:t> 모델이 코사인 유사도로 학습이 되어있기 때문에</a:t>
            </a:r>
            <a:r>
              <a:rPr kumimoji="1" lang="en-US" altLang="ko-KR" dirty="0"/>
              <a:t>,</a:t>
            </a:r>
            <a:r>
              <a:rPr kumimoji="1" lang="ko-KR" altLang="en-US" dirty="0"/>
              <a:t> 코사인 유사도를 선택하였습니다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7297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Train/Test</a:t>
            </a:r>
            <a:r>
              <a:rPr kumimoji="1" lang="ko-KR" altLang="en-US" dirty="0"/>
              <a:t> 전체적인 프로세스입니다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모델 로드를 한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Excel</a:t>
            </a:r>
            <a:r>
              <a:rPr kumimoji="1" lang="ko-KR" altLang="en-US" dirty="0"/>
              <a:t> 파일을 읽고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Train/Test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80:20</a:t>
            </a:r>
            <a:r>
              <a:rPr kumimoji="1" lang="ko-KR" altLang="en-US" dirty="0"/>
              <a:t> 비율로 나눕니다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텍스트 </a:t>
            </a:r>
            <a:r>
              <a:rPr kumimoji="1" lang="ko-KR" altLang="en-US" dirty="0" err="1"/>
              <a:t>전처리</a:t>
            </a:r>
            <a:r>
              <a:rPr kumimoji="1" lang="ko-KR" altLang="en-US" dirty="0"/>
              <a:t> 및 가중치를 적용한 후에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Train </a:t>
            </a:r>
            <a:r>
              <a:rPr kumimoji="1" lang="ko-KR" altLang="en-US" dirty="0" err="1"/>
              <a:t>임베딩을</a:t>
            </a:r>
            <a:r>
              <a:rPr kumimoji="1" lang="ko-KR" altLang="en-US" dirty="0"/>
              <a:t> 생성합니다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Test</a:t>
            </a:r>
            <a:r>
              <a:rPr kumimoji="1" lang="ko-KR" altLang="en-US" dirty="0"/>
              <a:t> 텍스트 </a:t>
            </a:r>
            <a:r>
              <a:rPr kumimoji="1" lang="ko-KR" altLang="en-US" dirty="0" err="1"/>
              <a:t>임베딩을</a:t>
            </a:r>
            <a:r>
              <a:rPr kumimoji="1" lang="ko-KR" altLang="en-US" dirty="0"/>
              <a:t> 생성하여 코사인 유사도 계산을 진행합니다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맞춘 </a:t>
            </a:r>
            <a:r>
              <a:rPr kumimoji="1" lang="ko-KR" altLang="en-US" dirty="0" err="1"/>
              <a:t>갯수를</a:t>
            </a:r>
            <a:r>
              <a:rPr kumimoji="1" lang="ko-KR" altLang="en-US" dirty="0"/>
              <a:t> 세</a:t>
            </a:r>
            <a:r>
              <a:rPr kumimoji="1" lang="en-US" altLang="ko-KR" dirty="0"/>
              <a:t>,</a:t>
            </a:r>
            <a:r>
              <a:rPr kumimoji="1" lang="ko-KR" altLang="en-US" dirty="0"/>
              <a:t> 추천 주류 정확도와 추천 이유 유사도 평균을 계산합니다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7288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배포 방식 결정으로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웹과 데스크톱 앱은 기존 워크플로우 시스템과 분리되어 있어 제외하였고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엑셀</a:t>
            </a:r>
            <a:r>
              <a:rPr kumimoji="1" lang="en-US" altLang="ko-KR" dirty="0"/>
              <a:t>VBA</a:t>
            </a:r>
            <a:r>
              <a:rPr kumimoji="1" lang="ko-KR" altLang="en-US" dirty="0"/>
              <a:t>는 확장성 부족과 코드가 변경되면 매번 담당자가 코드를 </a:t>
            </a:r>
            <a:endParaRPr kumimoji="1" lang="en-US" altLang="ko-KR" dirty="0"/>
          </a:p>
          <a:p>
            <a:r>
              <a:rPr kumimoji="1" lang="ko-KR" altLang="en-US" dirty="0"/>
              <a:t>수정해야 되는 문제가 있어 제외하였습니다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 err="1"/>
              <a:t>슬랙</a:t>
            </a:r>
            <a:r>
              <a:rPr kumimoji="1" lang="ko-KR" altLang="en-US" dirty="0"/>
              <a:t> 봇은 기존 워크플로우에 통합이 가능하고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앞서 비교했던 것에 대비 비용적으로도 저렴하여 선택하였습니다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3712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Slack </a:t>
            </a:r>
            <a:r>
              <a:rPr kumimoji="1" lang="ko-KR" altLang="en-US" dirty="0"/>
              <a:t>봇 자동화 결과를 </a:t>
            </a:r>
            <a:r>
              <a:rPr kumimoji="1" lang="en-US" altLang="ko-KR" dirty="0"/>
              <a:t>Notion DB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저장하는 방식과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Excel</a:t>
            </a:r>
            <a:r>
              <a:rPr kumimoji="1" lang="ko-KR" altLang="en-US" dirty="0"/>
              <a:t> 파일로 변환하는</a:t>
            </a:r>
            <a:endParaRPr kumimoji="1" lang="en-US" altLang="ko-KR" dirty="0"/>
          </a:p>
          <a:p>
            <a:r>
              <a:rPr kumimoji="1" lang="ko-KR" altLang="en-US" dirty="0"/>
              <a:t>방식을 비교하였습니다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B2B </a:t>
            </a:r>
            <a:r>
              <a:rPr kumimoji="1" lang="ko-KR" altLang="en-US" dirty="0"/>
              <a:t>담당자가 </a:t>
            </a:r>
            <a:r>
              <a:rPr kumimoji="1" lang="en-US" altLang="ko-KR" dirty="0"/>
              <a:t>2</a:t>
            </a:r>
            <a:r>
              <a:rPr kumimoji="1" lang="ko-KR" altLang="en-US" dirty="0"/>
              <a:t>명 이상일 때를 가정하고 진행하였습니다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Notion DB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전송하는 방식을 선택하면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다수의 요청을 동시에 처리 가능하고</a:t>
            </a:r>
            <a:r>
              <a:rPr kumimoji="1" lang="en-US" altLang="ko-KR" dirty="0"/>
              <a:t>,</a:t>
            </a:r>
          </a:p>
          <a:p>
            <a:r>
              <a:rPr kumimoji="1" lang="en-US" altLang="ko-KR" dirty="0"/>
              <a:t>Excel </a:t>
            </a:r>
            <a:r>
              <a:rPr kumimoji="1" lang="ko-KR" altLang="en-US" dirty="0"/>
              <a:t>파일을 반환하는 방식을 선택하면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순차적으로 처리해야 </a:t>
            </a:r>
            <a:r>
              <a:rPr kumimoji="1" lang="ko-KR" altLang="en-US" dirty="0" err="1"/>
              <a:t>하기때문에</a:t>
            </a:r>
            <a:r>
              <a:rPr kumimoji="1" lang="en-US" altLang="ko-KR" dirty="0"/>
              <a:t>,</a:t>
            </a:r>
          </a:p>
          <a:p>
            <a:r>
              <a:rPr kumimoji="1" lang="en-US" altLang="ko-KR" dirty="0"/>
              <a:t>Notion DB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저장하는 방식을 선택하였습니다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7647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클라우드 선택입니다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서버리스인 </a:t>
            </a:r>
            <a:r>
              <a:rPr kumimoji="1" lang="en-US" altLang="ko-KR" dirty="0"/>
              <a:t>Cloud Run</a:t>
            </a:r>
            <a:r>
              <a:rPr kumimoji="1" lang="ko-KR" altLang="en-US" dirty="0"/>
              <a:t>과 람다를 비교해보았을 때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두 클라우드 모두 프리 </a:t>
            </a:r>
            <a:r>
              <a:rPr kumimoji="1" lang="ko-KR" altLang="en-US" dirty="0" err="1"/>
              <a:t>티어</a:t>
            </a:r>
            <a:r>
              <a:rPr kumimoji="1" lang="ko-KR" altLang="en-US" dirty="0"/>
              <a:t> 내에서 수행가능한데요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제한 적인 시간 내 </a:t>
            </a:r>
            <a:r>
              <a:rPr kumimoji="1" lang="ko-KR" altLang="en-US" dirty="0" err="1"/>
              <a:t>수행해야하는</a:t>
            </a:r>
            <a:r>
              <a:rPr kumimoji="1" lang="ko-KR" altLang="en-US" dirty="0"/>
              <a:t> 프로젝트 내에서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간단한 클라우드 </a:t>
            </a:r>
            <a:r>
              <a:rPr kumimoji="1" lang="ko-KR" altLang="en-US" dirty="0" err="1"/>
              <a:t>런을</a:t>
            </a:r>
            <a:r>
              <a:rPr kumimoji="1" lang="ko-KR" altLang="en-US" dirty="0"/>
              <a:t> 선택하였습니다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6644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언어는 파이썬 빠른 개발을 위해 </a:t>
            </a:r>
            <a:r>
              <a:rPr kumimoji="1" lang="ko-KR" altLang="en-US" dirty="0" err="1"/>
              <a:t>파이썬을</a:t>
            </a:r>
            <a:r>
              <a:rPr kumimoji="1" lang="ko-KR" altLang="en-US" dirty="0"/>
              <a:t> 선택하였습니다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4940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프레임워크 선택으로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담당자 </a:t>
            </a:r>
            <a:r>
              <a:rPr kumimoji="1" lang="en-US" altLang="ko-KR" dirty="0"/>
              <a:t>2</a:t>
            </a:r>
            <a:r>
              <a:rPr kumimoji="1" lang="ko-KR" altLang="en-US" dirty="0"/>
              <a:t>명 이상이 쓴다는 상황을 가정하고 하기 때문에</a:t>
            </a:r>
            <a:r>
              <a:rPr kumimoji="1" lang="en-US" altLang="ko-KR" dirty="0"/>
              <a:t>,</a:t>
            </a:r>
            <a:r>
              <a:rPr kumimoji="1" lang="ko-KR" altLang="en-US" dirty="0"/>
              <a:t> 처리 방식이 비동기인 </a:t>
            </a:r>
            <a:r>
              <a:rPr kumimoji="1" lang="en-US" altLang="ko-KR" dirty="0" err="1"/>
              <a:t>FastAPI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선택하였습니다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7803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ko-KR" altLang="en-US" dirty="0"/>
              <a:t> 시나리오 첫번째로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초기 파일 업로드입니다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0197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슬래쉬</a:t>
            </a:r>
            <a:r>
              <a:rPr kumimoji="1" lang="ko-KR" altLang="en-US" dirty="0"/>
              <a:t> 커맨드로 </a:t>
            </a:r>
            <a:r>
              <a:rPr kumimoji="1" lang="en-US" altLang="ko-KR" dirty="0"/>
              <a:t>excel2notin</a:t>
            </a:r>
            <a:r>
              <a:rPr kumimoji="1" lang="ko-KR" altLang="en-US" dirty="0"/>
              <a:t>과 엑셀 파일을 입력하면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excel </a:t>
            </a:r>
            <a:r>
              <a:rPr kumimoji="1" lang="ko-KR" altLang="en-US" dirty="0"/>
              <a:t>파일을 </a:t>
            </a:r>
            <a:r>
              <a:rPr kumimoji="1" lang="en-US" altLang="ko-KR" dirty="0" err="1"/>
              <a:t>json</a:t>
            </a:r>
            <a:r>
              <a:rPr kumimoji="1" lang="ko-KR" altLang="en-US" dirty="0" err="1"/>
              <a:t>으로</a:t>
            </a:r>
            <a:endParaRPr kumimoji="1" lang="en-US" altLang="ko-KR" dirty="0"/>
          </a:p>
          <a:p>
            <a:r>
              <a:rPr kumimoji="1" lang="ko-KR" altLang="en-US" dirty="0"/>
              <a:t>변경하고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Notion API </a:t>
            </a:r>
            <a:r>
              <a:rPr kumimoji="1" lang="ko-KR" altLang="en-US" dirty="0"/>
              <a:t>스키마로 매핑합니다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매핑된</a:t>
            </a:r>
            <a:r>
              <a:rPr kumimoji="1" lang="ko-KR" altLang="en-US" dirty="0"/>
              <a:t> 정보를 </a:t>
            </a:r>
            <a:r>
              <a:rPr kumimoji="1" lang="en-US" altLang="ko-KR" dirty="0"/>
              <a:t>Notion API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전송합니다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0629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 두번째로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데이터 추가 및 </a:t>
            </a:r>
            <a:r>
              <a:rPr kumimoji="1" lang="en-US" altLang="ko-KR" dirty="0"/>
              <a:t>Top1</a:t>
            </a:r>
            <a:r>
              <a:rPr kumimoji="1" lang="ko-KR" altLang="en-US" dirty="0"/>
              <a:t> 추천 주류 및 추천 이유 생성입니다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83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 세번째로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데이터 추가 및 </a:t>
            </a:r>
            <a:r>
              <a:rPr kumimoji="1" lang="en-US" altLang="ko-KR" dirty="0"/>
              <a:t>Top3</a:t>
            </a:r>
            <a:r>
              <a:rPr kumimoji="1" lang="ko-KR" altLang="en-US" dirty="0"/>
              <a:t> 추천 주류 및 추천 이유 생성입니다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앞서 말씀드린 시나리오</a:t>
            </a:r>
            <a:r>
              <a:rPr kumimoji="1" lang="en-US" altLang="ko-KR" dirty="0"/>
              <a:t>2</a:t>
            </a:r>
            <a:r>
              <a:rPr kumimoji="1" lang="ko-KR" altLang="en-US" dirty="0"/>
              <a:t>와 비교했을 때 추천 개수만 달라졌습니다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09996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슬래시 커맨드로 </a:t>
            </a:r>
            <a:r>
              <a:rPr kumimoji="1" lang="en-US" altLang="ko-KR" dirty="0"/>
              <a:t>append2top1</a:t>
            </a:r>
            <a:r>
              <a:rPr kumimoji="1" lang="ko-KR" altLang="en-US" dirty="0"/>
              <a:t>과 자연어 또는 </a:t>
            </a:r>
            <a:r>
              <a:rPr kumimoji="1" lang="en-US" altLang="ko-KR" dirty="0"/>
              <a:t>pdf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입력하면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자연어인지 판단하고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자연어이면 </a:t>
            </a:r>
            <a:r>
              <a:rPr kumimoji="1" lang="ko-KR" altLang="en-US" dirty="0" err="1"/>
              <a:t>제미나이를</a:t>
            </a:r>
            <a:r>
              <a:rPr kumimoji="1" lang="ko-KR" altLang="en-US" dirty="0"/>
              <a:t> 사용하여 정해진 클래스로 변경하고</a:t>
            </a:r>
            <a:r>
              <a:rPr kumimoji="1" lang="en-US" altLang="ko-KR" dirty="0"/>
              <a:t>,</a:t>
            </a:r>
          </a:p>
          <a:p>
            <a:r>
              <a:rPr kumimoji="1" lang="en-US" altLang="ko-KR" dirty="0"/>
              <a:t>pdf</a:t>
            </a:r>
            <a:r>
              <a:rPr kumimoji="1" lang="ko-KR" altLang="en-US" dirty="0"/>
              <a:t>면 </a:t>
            </a:r>
            <a:r>
              <a:rPr kumimoji="1" lang="en-US" altLang="ko-KR" dirty="0"/>
              <a:t>text</a:t>
            </a:r>
            <a:r>
              <a:rPr kumimoji="1" lang="ko-KR" altLang="en-US" dirty="0"/>
              <a:t> 변환 후 </a:t>
            </a:r>
            <a:r>
              <a:rPr kumimoji="1" lang="ko-KR" altLang="en-US" dirty="0" err="1"/>
              <a:t>제미나이를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사용하여정해진</a:t>
            </a:r>
            <a:r>
              <a:rPr kumimoji="1" lang="ko-KR" altLang="en-US" dirty="0"/>
              <a:t> 클래스로 변경합니다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클래스 내 속성별로 열 가중치를 적용한 후에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가중치가 적용된 텍스트 </a:t>
            </a:r>
            <a:r>
              <a:rPr kumimoji="1" lang="ko-KR" altLang="en-US" dirty="0" err="1"/>
              <a:t>임베딩을</a:t>
            </a:r>
            <a:endParaRPr kumimoji="1" lang="en-US" altLang="ko-KR" dirty="0"/>
          </a:p>
          <a:p>
            <a:r>
              <a:rPr kumimoji="1" lang="ko-KR" altLang="en-US" dirty="0"/>
              <a:t>생성합니다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Notion APi</a:t>
            </a:r>
            <a:r>
              <a:rPr kumimoji="1" lang="ko-KR" altLang="en-US" dirty="0"/>
              <a:t> 호출 및 </a:t>
            </a:r>
            <a:r>
              <a:rPr kumimoji="1" lang="en-US" altLang="ko-KR" dirty="0"/>
              <a:t>Notion DB </a:t>
            </a:r>
            <a:r>
              <a:rPr kumimoji="1" lang="ko-KR" altLang="en-US" dirty="0" err="1"/>
              <a:t>임베딩</a:t>
            </a:r>
            <a:r>
              <a:rPr kumimoji="1" lang="ko-KR" altLang="en-US" dirty="0"/>
              <a:t> 생성하고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인덱스에서 유사한</a:t>
            </a:r>
            <a:endParaRPr kumimoji="1" lang="en-US" altLang="ko-KR" dirty="0"/>
          </a:p>
          <a:p>
            <a:r>
              <a:rPr kumimoji="1" lang="ko-KR" altLang="en-US" dirty="0"/>
              <a:t>학습 데이터 검색한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유사도가 가장 높은 것을 찾아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추천 주류 </a:t>
            </a:r>
            <a:r>
              <a:rPr kumimoji="1" lang="en-US" altLang="ko-KR" dirty="0"/>
              <a:t>1</a:t>
            </a:r>
            <a:r>
              <a:rPr kumimoji="1" lang="ko-KR" altLang="en-US" dirty="0"/>
              <a:t>개를 결정합니다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유사도가 가장 높은 기존데이터와 생성된 추천 주류 및 속성들을 통해 </a:t>
            </a:r>
            <a:r>
              <a:rPr kumimoji="1" lang="ko-KR" altLang="en-US" dirty="0" err="1"/>
              <a:t>제미나이로</a:t>
            </a:r>
            <a:r>
              <a:rPr kumimoji="1" lang="ko-KR" altLang="en-US" dirty="0"/>
              <a:t> 추천 이유 생성하여</a:t>
            </a:r>
            <a:r>
              <a:rPr kumimoji="1" lang="en-US" altLang="ko-KR" dirty="0"/>
              <a:t>,</a:t>
            </a:r>
            <a:r>
              <a:rPr kumimoji="1" lang="ko-KR" altLang="en-US" dirty="0"/>
              <a:t> 완성된 행을 </a:t>
            </a:r>
            <a:r>
              <a:rPr kumimoji="1" lang="en-US" altLang="ko-KR" dirty="0"/>
              <a:t>Notion API </a:t>
            </a:r>
            <a:r>
              <a:rPr kumimoji="1" lang="ko-KR" altLang="en-US" dirty="0"/>
              <a:t>전송합니다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Slack</a:t>
            </a:r>
            <a:r>
              <a:rPr kumimoji="1" lang="ko-KR" altLang="en-US" dirty="0"/>
              <a:t>에는 </a:t>
            </a:r>
            <a:endParaRPr kumimoji="1" lang="en-US" altLang="ko-KR" dirty="0"/>
          </a:p>
          <a:p>
            <a:r>
              <a:rPr kumimoji="1" lang="ko-KR" altLang="en-US" dirty="0"/>
              <a:t>결과값으로 유사도와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유사도 </a:t>
            </a:r>
            <a:r>
              <a:rPr kumimoji="1" lang="en-US" altLang="ko-KR" dirty="0"/>
              <a:t>Top1</a:t>
            </a:r>
            <a:r>
              <a:rPr kumimoji="1" lang="ko-KR" altLang="en-US" dirty="0"/>
              <a:t> 데이터와 예측한 추천 주류</a:t>
            </a:r>
            <a:r>
              <a:rPr kumimoji="1" lang="en-US" altLang="ko-KR" dirty="0"/>
              <a:t>,</a:t>
            </a:r>
            <a:r>
              <a:rPr kumimoji="1" lang="ko-KR" altLang="en-US" dirty="0"/>
              <a:t> 예측한 추천 이유를 보여줍니다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31582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시나리오 네번째로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엑셀로 반환입니다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사용자가 </a:t>
            </a:r>
            <a:r>
              <a:rPr kumimoji="1" lang="ko-KR" altLang="en-US" dirty="0" err="1"/>
              <a:t>어딘가에</a:t>
            </a:r>
            <a:r>
              <a:rPr kumimoji="1" lang="ko-KR" altLang="en-US" dirty="0"/>
              <a:t> 파일을 </a:t>
            </a:r>
            <a:r>
              <a:rPr kumimoji="1" lang="ko-KR" altLang="en-US" dirty="0" err="1"/>
              <a:t>제출해야할</a:t>
            </a:r>
            <a:r>
              <a:rPr kumimoji="1" lang="ko-KR" altLang="en-US" dirty="0"/>
              <a:t> 때 필요할 수 있다고 생각하여 진행하였습니다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7049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슬래쉬</a:t>
            </a:r>
            <a:r>
              <a:rPr kumimoji="1" lang="ko-KR" altLang="en-US" dirty="0"/>
              <a:t> 커맨드로 </a:t>
            </a:r>
            <a:r>
              <a:rPr kumimoji="1" lang="en-US" altLang="ko-KR" dirty="0"/>
              <a:t>notion2excel</a:t>
            </a:r>
            <a:r>
              <a:rPr kumimoji="1" lang="ko-KR" altLang="en-US" dirty="0"/>
              <a:t> 을 입력하면 </a:t>
            </a:r>
            <a:r>
              <a:rPr kumimoji="1" lang="ko-KR" altLang="en-US" dirty="0" err="1"/>
              <a:t>노션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에이피아이</a:t>
            </a:r>
            <a:r>
              <a:rPr kumimoji="1" lang="ko-KR" altLang="en-US" dirty="0"/>
              <a:t> 호출로</a:t>
            </a:r>
            <a:endParaRPr kumimoji="1" lang="en-US" altLang="ko-KR" dirty="0"/>
          </a:p>
          <a:p>
            <a:r>
              <a:rPr kumimoji="1" lang="ko-KR" altLang="en-US" dirty="0" err="1"/>
              <a:t>노션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디비를</a:t>
            </a:r>
            <a:r>
              <a:rPr kumimoji="1" lang="ko-KR" altLang="en-US" dirty="0"/>
              <a:t> 가져오고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엑셀 파일로 변환 후 변환된 파일을 </a:t>
            </a:r>
            <a:r>
              <a:rPr kumimoji="1" lang="ko-KR" altLang="en-US" dirty="0" err="1"/>
              <a:t>슬랙에</a:t>
            </a:r>
            <a:r>
              <a:rPr kumimoji="1" lang="ko-KR" altLang="en-US" dirty="0"/>
              <a:t> 업로드하는 </a:t>
            </a:r>
            <a:endParaRPr kumimoji="1" lang="en-US" altLang="ko-KR" dirty="0"/>
          </a:p>
          <a:p>
            <a:r>
              <a:rPr kumimoji="1" lang="ko-KR" altLang="en-US" dirty="0"/>
              <a:t>형태입니다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18696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마지막으로 개발 일정입니다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열 가중치 계산 및 정확도 개선이 가장 중요한 부분이라 </a:t>
            </a:r>
            <a:r>
              <a:rPr kumimoji="1" lang="en-US" altLang="ko-KR" dirty="0"/>
              <a:t>3</a:t>
            </a:r>
            <a:r>
              <a:rPr kumimoji="1" lang="ko-KR" altLang="en-US" dirty="0"/>
              <a:t>일을 잡고 진행할</a:t>
            </a:r>
            <a:endParaRPr kumimoji="1" lang="en-US" altLang="ko-KR" dirty="0"/>
          </a:p>
          <a:p>
            <a:r>
              <a:rPr kumimoji="1" lang="ko-KR" altLang="en-US" dirty="0"/>
              <a:t>예정이며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로컬 환경에서 개발 및 테스트를 진행한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배포를 진행할 예정입니다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A29C9-0A79-C84C-BCAE-42EF05095D29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693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42A95-ADF4-01A0-D3EF-6DB5C5878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22034E-1E04-9375-577E-3527F9378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B855C6-51F7-EE07-D341-69762065F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C822A4-99A0-C75A-B9BE-CA62DFE7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24B8AC-248E-938C-7B3C-54891098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7055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187E6-F685-BFCB-8AAB-986C8D2F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F8FC59-43AB-01AA-0C56-28FBE80C4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DBACC-9FBB-A552-E783-73F35E651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8DDA91-B84C-05EE-126A-F5E63CC4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8061A-CBEE-E82F-CAC0-F4365ED6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896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CB0B0-431C-4FF1-B30B-C9D10C612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628DF4-2EF1-E261-DC40-E66D4D205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0766B-039F-F60A-CD0E-3C6AAAD2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9A7850-915F-0A4C-9E8A-5859F199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8A795A-8450-EAB6-A226-9DDAA60D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015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B669A-CE81-E884-3915-AAE3F94D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F10677-B953-3DF2-0C61-3250ED9D6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09510D-9104-817C-4D8B-51B17E2CE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2252DC-7A74-8D80-A42B-6BCFE6D0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63BE6E-382E-32E4-45D5-B1379BB9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CB3CC6-6CCB-0B13-559A-D10D184A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315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42AA3-1D31-13E9-4A9D-BD4ED14E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98B0EF-9171-EAD4-ABFF-4E35AE72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CCA4BF-1B56-1657-A8BF-02E3B0BCD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7C6BE4-A321-CCA7-F5CB-B186A45F7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952FD9-4441-A03D-778E-F3063A312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73D477-D045-1138-69B7-6F553F154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CDC889-A455-4B00-8E05-5C79A4CF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5CC191-1FA2-AC38-F105-FEBAF6EB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1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604AB-BA6D-06A3-76BE-7924F558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B333D4-AAF9-F7B9-17A3-4A0E6790F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7F4370-77C2-EDE0-20E1-24A1C572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F059CF-4813-6486-5C7A-59F32704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253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4E612A-561A-3688-8626-5004359E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A0FF89-B065-31C5-73E2-3515D0AD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37C657-62CA-65E4-5395-83F04EA1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9835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0FFFF-D5CD-AAEE-1787-C3688EC9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AE4FF3-CCF0-401D-BB1B-4F5A3E21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D4D07D-3B54-1395-88EA-2CA4BA075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FE089C-488D-62AD-5F42-40DDE93C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D61F5C-7CF1-B94C-E9E4-4B045246C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05411D-ADC3-A067-1ECB-735A5AD6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7552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BB790-8F0B-FBB9-FA08-6FAF11A1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2C41EF-D314-1022-D812-02CD2633A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A606C2-8ED1-C3E1-3839-0A9CA232A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E854FC-A394-7C79-75C5-81D42FE1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29613B-4019-AE16-39D4-9A0C8D4D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8F362B-841F-C2CE-D5AD-21CA7FB4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127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CE723-610B-011F-C2D7-9652E5C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C4FCDD-5F11-5204-7D5C-25C41A238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9AD02C-0509-B2D3-6FBE-0438FA63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52BD3C-D415-F2C3-A505-A2D32D8E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30A72A-FE7E-A225-AE71-78EEC447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997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12060B-A574-3E1E-0375-8D17407BB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02B96B-D9BD-4348-4672-90C129151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B4FA3E-F885-6AF2-79B7-1DC33E0F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A1DF36-47DE-BBD6-7466-ACC09D73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4A0BE-9A07-B26A-4508-497AEDFC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007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9B6E6F-2142-10ED-5C35-F579A450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F7682A-CAA0-1EF6-5882-B260E4256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BFB77-1A33-2C67-68C3-ED68C2BA6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4BFE7-F357-6A47-9E52-47AC73CF3155}" type="datetimeFigureOut">
              <a:rPr kumimoji="1" lang="ko-KR" altLang="en-US" smtClean="0"/>
              <a:t>2025. 11. 12.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79B8B7-F14C-854A-B117-0137E9632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088D3E-694D-3295-F287-2754F0176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18564-CD1C-6146-851E-A44153E9BB8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051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73E1B-09BD-1494-F051-60D55F264B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 err="1"/>
              <a:t>ExcelBot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97CA78-40EA-C668-5726-0B944A51FF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/>
              <a:t>최명재</a:t>
            </a:r>
          </a:p>
        </p:txBody>
      </p:sp>
    </p:spTree>
    <p:extLst>
      <p:ext uri="{BB962C8B-B14F-4D97-AF65-F5344CB8AC3E}">
        <p14:creationId xmlns:p14="http://schemas.microsoft.com/office/powerpoint/2010/main" val="392510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AD619-8D8C-FC38-CFE2-ED145265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8" y="571955"/>
            <a:ext cx="10092690" cy="1267732"/>
          </a:xfrm>
        </p:spPr>
        <p:txBody>
          <a:bodyPr/>
          <a:lstStyle/>
          <a:p>
            <a:r>
              <a:rPr kumimoji="1" lang="ko-KR" altLang="en-US" dirty="0"/>
              <a:t>프로젝트 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4FF11-7849-6334-AA34-262C909CA24D}"/>
              </a:ext>
            </a:extLst>
          </p:cNvPr>
          <p:cNvSpPr txBox="1"/>
          <p:nvPr/>
        </p:nvSpPr>
        <p:spPr>
          <a:xfrm>
            <a:off x="1062990" y="1988820"/>
            <a:ext cx="10092690" cy="336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b="1" dirty="0"/>
              <a:t>목표</a:t>
            </a:r>
            <a:endParaRPr kumimoji="1" lang="en-US" altLang="ko-KR" b="1" dirty="0"/>
          </a:p>
          <a:p>
            <a:pPr>
              <a:lnSpc>
                <a:spcPct val="150000"/>
              </a:lnSpc>
            </a:pPr>
            <a:r>
              <a:rPr kumimoji="1" lang="ko-KR" altLang="en-US" dirty="0"/>
              <a:t>레스토랑별 특성에 맞는 주류를 </a:t>
            </a:r>
            <a:r>
              <a:rPr kumimoji="1" lang="en-US" altLang="ko-KR" dirty="0"/>
              <a:t>AI </a:t>
            </a:r>
            <a:r>
              <a:rPr kumimoji="1" lang="ko-KR" altLang="en-US" dirty="0"/>
              <a:t>기반으로 자동 추천하여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dirty="0"/>
              <a:t>B2B</a:t>
            </a:r>
            <a:r>
              <a:rPr kumimoji="1" lang="ko-KR" altLang="en-US" dirty="0"/>
              <a:t> 담당자의 업무 효율성을 극대화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ko-KR" altLang="en-US" b="1" dirty="0"/>
              <a:t>핵심가치</a:t>
            </a:r>
            <a:endParaRPr kumimoji="1"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자동화</a:t>
            </a:r>
            <a:r>
              <a:rPr kumimoji="1" lang="en-US" altLang="ko-KR" dirty="0"/>
              <a:t>:</a:t>
            </a:r>
            <a:r>
              <a:rPr kumimoji="1" lang="ko-KR" altLang="en-US" dirty="0"/>
              <a:t> 수작업 추천 프로세스 자동화</a:t>
            </a:r>
            <a:endParaRPr kumimoji="1"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정확도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AI </a:t>
            </a:r>
            <a:r>
              <a:rPr kumimoji="1" lang="ko-KR" altLang="en-US" dirty="0"/>
              <a:t>기반 유사도 분석으로 높은 추천 정확도 달성</a:t>
            </a:r>
            <a:endParaRPr kumimoji="1"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통합성</a:t>
            </a:r>
            <a:r>
              <a:rPr kumimoji="1" lang="en-US" altLang="ko-KR" dirty="0"/>
              <a:t>:</a:t>
            </a:r>
            <a:r>
              <a:rPr kumimoji="1" lang="ko-KR" altLang="en-US" dirty="0"/>
              <a:t> 기존 업무 흐름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슬랙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노션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자연스럽게 통합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766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BC4A3-4B89-A610-4851-9C058D33F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573469"/>
            <a:ext cx="10515600" cy="1146402"/>
          </a:xfrm>
        </p:spPr>
        <p:txBody>
          <a:bodyPr/>
          <a:lstStyle/>
          <a:p>
            <a:r>
              <a:rPr kumimoji="1" lang="ko-KR" altLang="en-US" dirty="0"/>
              <a:t>정량적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3FA4D2-6B84-B792-1036-DF1C3CD28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664" y="202017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ko-KR" altLang="en-US" dirty="0"/>
              <a:t>추천 주류 </a:t>
            </a:r>
            <a:r>
              <a:rPr kumimoji="1" lang="en-US" altLang="ko-KR" dirty="0"/>
              <a:t>Top1 : 70%</a:t>
            </a:r>
            <a:r>
              <a:rPr lang="ko-KR" altLang="en-US" b="1" dirty="0"/>
              <a:t>↑</a:t>
            </a:r>
            <a:endParaRPr kumimoji="1" lang="en-US" altLang="ko-KR" dirty="0"/>
          </a:p>
          <a:p>
            <a:pPr lvl="1">
              <a:lnSpc>
                <a:spcPct val="150000"/>
              </a:lnSpc>
            </a:pPr>
            <a:r>
              <a:rPr kumimoji="1" lang="ko-KR" altLang="en-US" dirty="0"/>
              <a:t>수동 수정 필요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30%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실용적인 수준</a:t>
            </a:r>
            <a:endParaRPr kumimoji="1" lang="en-US" altLang="ko-KR" dirty="0"/>
          </a:p>
          <a:p>
            <a:pPr lvl="1">
              <a:lnSpc>
                <a:spcPct val="150000"/>
              </a:lnSpc>
            </a:pPr>
            <a:r>
              <a:rPr kumimoji="1" lang="en-US" altLang="ko-KR" dirty="0"/>
              <a:t>N</a:t>
            </a:r>
            <a:r>
              <a:rPr kumimoji="1" lang="ko-KR" altLang="en-US" dirty="0"/>
              <a:t>개 데이터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120</a:t>
            </a:r>
            <a:r>
              <a:rPr kumimoji="1" lang="ko-KR" altLang="en-US" dirty="0"/>
              <a:t>분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0.3N : 36</a:t>
            </a:r>
            <a:r>
              <a:rPr kumimoji="1" lang="ko-KR" altLang="en-US" dirty="0"/>
              <a:t>분</a:t>
            </a:r>
            <a:endParaRPr kumimoji="1" lang="en-US" altLang="ko-KR" dirty="0"/>
          </a:p>
          <a:p>
            <a:pPr lvl="1">
              <a:lnSpc>
                <a:spcPct val="150000"/>
              </a:lnSpc>
            </a:pPr>
            <a:r>
              <a:rPr kumimoji="1" lang="ko-KR" altLang="en-US" dirty="0"/>
              <a:t>약 </a:t>
            </a:r>
            <a:r>
              <a:rPr kumimoji="1" lang="en-US" altLang="ko-KR" dirty="0"/>
              <a:t>3</a:t>
            </a:r>
            <a:r>
              <a:rPr kumimoji="1" lang="ko-KR" altLang="en-US" dirty="0"/>
              <a:t>배 효율 증가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ko-KR" altLang="en-US" dirty="0"/>
              <a:t>추천 주류 </a:t>
            </a:r>
            <a:r>
              <a:rPr kumimoji="1" lang="en-US" altLang="ko-KR" dirty="0"/>
              <a:t>Top3 : 90%</a:t>
            </a:r>
            <a:r>
              <a:rPr lang="ko-KR" altLang="en-US" b="1" dirty="0"/>
              <a:t>↑</a:t>
            </a:r>
            <a:endParaRPr kumimoji="1" lang="en-US" altLang="ko-KR" dirty="0"/>
          </a:p>
          <a:p>
            <a:pPr lvl="1">
              <a:lnSpc>
                <a:spcPct val="150000"/>
              </a:lnSpc>
            </a:pPr>
            <a:r>
              <a:rPr kumimoji="1" lang="en-US" altLang="ko-KR" dirty="0"/>
              <a:t>70%</a:t>
            </a:r>
            <a:r>
              <a:rPr kumimoji="1" lang="ko-KR" altLang="en-US" dirty="0"/>
              <a:t> 신뢰도 낮음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Top3</a:t>
            </a:r>
            <a:r>
              <a:rPr kumimoji="1" lang="ko-KR" altLang="en-US" dirty="0"/>
              <a:t>로 신뢰도 향상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ko-KR" altLang="en-US" dirty="0"/>
              <a:t>기존 추천 이유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생성된 추천 이유 유사도</a:t>
            </a:r>
            <a:r>
              <a:rPr kumimoji="1" lang="en-US" altLang="ko-KR" dirty="0"/>
              <a:t> : 0.7</a:t>
            </a:r>
            <a:r>
              <a:rPr lang="ko-KR" altLang="en-US" b="1" dirty="0"/>
              <a:t>↑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kumimoji="1" lang="ko-KR" altLang="en-US" dirty="0"/>
              <a:t>코사인 </a:t>
            </a:r>
            <a:r>
              <a:rPr kumimoji="1" lang="en-US" altLang="ko-KR" dirty="0"/>
              <a:t>45</a:t>
            </a:r>
            <a:r>
              <a:rPr kumimoji="1" lang="ko-KR" altLang="en-US" dirty="0"/>
              <a:t>도</a:t>
            </a:r>
            <a:r>
              <a:rPr kumimoji="1" lang="en-US" altLang="ko-KR" dirty="0"/>
              <a:t> </a:t>
            </a:r>
            <a:r>
              <a:rPr kumimoji="1" lang="ko-KR" altLang="en-US" dirty="0"/>
              <a:t>값에 해당하는 </a:t>
            </a:r>
            <a:r>
              <a:rPr kumimoji="1" lang="en-US" altLang="ko-KR" dirty="0"/>
              <a:t>0.707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유사한 값이라는 논문</a:t>
            </a:r>
            <a:r>
              <a:rPr kumimoji="1" lang="en-US" altLang="ko-KR" dirty="0"/>
              <a:t>/</a:t>
            </a:r>
            <a:r>
              <a:rPr kumimoji="1" lang="ko-KR" altLang="en-US" dirty="0"/>
              <a:t>연구 결과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7563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401FD-E36E-A471-BE70-A8FCFAE6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573932"/>
            <a:ext cx="10515600" cy="1155667"/>
          </a:xfrm>
        </p:spPr>
        <p:txBody>
          <a:bodyPr/>
          <a:lstStyle/>
          <a:p>
            <a:r>
              <a:rPr lang="en" altLang="ko-KR" dirty="0"/>
              <a:t>Train/Test </a:t>
            </a:r>
            <a:r>
              <a:rPr lang="ko-KR" altLang="en-US" dirty="0"/>
              <a:t>비율 </a:t>
            </a:r>
            <a:r>
              <a:rPr lang="en-US" altLang="ko-KR" dirty="0"/>
              <a:t>8:2 </a:t>
            </a:r>
            <a:r>
              <a:rPr lang="ko-KR" altLang="en-US" dirty="0"/>
              <a:t>선정 이유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B62B-B220-4E50-0387-0D7C2CE98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209" y="202017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훈련 세트</a:t>
            </a:r>
            <a:r>
              <a:rPr lang="en-US" altLang="ko-KR" sz="2400" dirty="0"/>
              <a:t>: </a:t>
            </a:r>
            <a:r>
              <a:rPr lang="en" altLang="ko-KR" sz="2400" dirty="0" err="1"/>
              <a:t>p·N</a:t>
            </a:r>
            <a:r>
              <a:rPr lang="ko-KR" altLang="en-US" sz="2400" dirty="0"/>
              <a:t>개 → 표준편차 </a:t>
            </a:r>
            <a:r>
              <a:rPr lang="en-US" altLang="ko-KR" sz="2400" dirty="0"/>
              <a:t>=</a:t>
            </a:r>
            <a:r>
              <a:rPr lang="ko-KR" altLang="en-US" sz="2400" dirty="0"/>
              <a:t> </a:t>
            </a:r>
            <a:r>
              <a:rPr lang="en-US" altLang="ko-KR" sz="2400" dirty="0"/>
              <a:t>1/√(</a:t>
            </a:r>
            <a:r>
              <a:rPr lang="en" altLang="ko-KR" sz="2400" dirty="0" err="1"/>
              <a:t>p·N</a:t>
            </a:r>
            <a:r>
              <a:rPr lang="en" altLang="ko-KR" sz="2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테스트 세트</a:t>
            </a:r>
            <a:r>
              <a:rPr lang="en-US" altLang="ko-KR" sz="2400" dirty="0"/>
              <a:t>: (1−</a:t>
            </a:r>
            <a:r>
              <a:rPr lang="en" altLang="ko-KR" sz="2400" dirty="0"/>
              <a:t>p)·N</a:t>
            </a:r>
            <a:r>
              <a:rPr lang="ko-KR" altLang="en-US" sz="2400" dirty="0"/>
              <a:t>개 → 표준편차 </a:t>
            </a:r>
            <a:r>
              <a:rPr lang="en-US" altLang="ko-KR" sz="2400" dirty="0"/>
              <a:t>=</a:t>
            </a:r>
            <a:r>
              <a:rPr lang="ko-KR" altLang="en-US" sz="2400" dirty="0"/>
              <a:t> </a:t>
            </a:r>
            <a:r>
              <a:rPr lang="en-US" altLang="ko-KR" sz="2400" dirty="0"/>
              <a:t>1/√((1−</a:t>
            </a:r>
            <a:r>
              <a:rPr lang="en" altLang="ko-KR" sz="2400" dirty="0"/>
              <a:t>p)·N)</a:t>
            </a:r>
            <a:endParaRPr kumimoji="1" lang="en-US" altLang="ko-KR" sz="2200" dirty="0"/>
          </a:p>
          <a:p>
            <a:pPr>
              <a:lnSpc>
                <a:spcPct val="150000"/>
              </a:lnSpc>
            </a:pPr>
            <a:r>
              <a:rPr kumimoji="1" lang="ko-KR" altLang="en-US" sz="2200" dirty="0"/>
              <a:t>두 분산의 합 </a:t>
            </a:r>
            <a:r>
              <a:rPr kumimoji="1" lang="en-US" altLang="ko-KR" sz="2200" dirty="0"/>
              <a:t>=</a:t>
            </a:r>
            <a:r>
              <a:rPr kumimoji="1" lang="ko-KR" altLang="en-US" sz="2200" dirty="0"/>
              <a:t> 전체 오차 </a:t>
            </a:r>
            <a:r>
              <a:rPr kumimoji="1" lang="en-US" altLang="ko-KR" sz="2200" dirty="0"/>
              <a:t>-&gt;</a:t>
            </a:r>
            <a:r>
              <a:rPr kumimoji="1" lang="ko-KR" altLang="en-US" sz="2200" dirty="0"/>
              <a:t> </a:t>
            </a:r>
            <a:r>
              <a:rPr kumimoji="1" lang="en-US" altLang="ko-KR" sz="2200" dirty="0"/>
              <a:t>1/(p(1-p)*N)</a:t>
            </a:r>
          </a:p>
          <a:p>
            <a:pPr>
              <a:lnSpc>
                <a:spcPct val="150000"/>
              </a:lnSpc>
            </a:pPr>
            <a:r>
              <a:rPr kumimoji="1" lang="ko-KR" altLang="en-US" sz="2200" dirty="0"/>
              <a:t>전체 오차 최소화 </a:t>
            </a:r>
            <a:r>
              <a:rPr kumimoji="1" lang="en-US" altLang="ko-KR" sz="2200" dirty="0"/>
              <a:t>-&gt;</a:t>
            </a:r>
            <a:r>
              <a:rPr kumimoji="1" lang="ko-KR" altLang="en-US" sz="2200" dirty="0"/>
              <a:t> </a:t>
            </a:r>
            <a:r>
              <a:rPr kumimoji="1" lang="en-US" altLang="ko-KR" sz="2200" dirty="0"/>
              <a:t>p(1-p)</a:t>
            </a:r>
            <a:r>
              <a:rPr kumimoji="1" lang="ko-KR" altLang="en-US" sz="2200" dirty="0"/>
              <a:t> 최대가 되도록 </a:t>
            </a:r>
            <a:r>
              <a:rPr kumimoji="1" lang="en-US" altLang="ko-KR" sz="2200" dirty="0"/>
              <a:t>p </a:t>
            </a:r>
            <a:r>
              <a:rPr kumimoji="1" lang="ko-KR" altLang="en-US" sz="2200" dirty="0"/>
              <a:t>선택</a:t>
            </a:r>
            <a:endParaRPr kumimoji="1" lang="en-US" altLang="ko-KR" sz="2200" dirty="0"/>
          </a:p>
          <a:p>
            <a:pPr>
              <a:lnSpc>
                <a:spcPct val="150000"/>
              </a:lnSpc>
            </a:pPr>
            <a:r>
              <a:rPr kumimoji="1" lang="en-US" altLang="ko-KR" sz="2200" dirty="0"/>
              <a:t>2[</a:t>
            </a:r>
            <a:r>
              <a:rPr kumimoji="1" lang="ko-KR" altLang="en-US" sz="2200" dirty="0"/>
              <a:t>훈련 표준편차</a:t>
            </a:r>
            <a:r>
              <a:rPr kumimoji="1" lang="en-US" altLang="ko-KR" sz="2200" dirty="0"/>
              <a:t>]&lt;=[</a:t>
            </a:r>
            <a:r>
              <a:rPr kumimoji="1" lang="ko-KR" altLang="en-US" sz="2200" dirty="0"/>
              <a:t>테스트 표준편차</a:t>
            </a:r>
            <a:r>
              <a:rPr kumimoji="1" lang="en-US" altLang="ko-KR" sz="2200" dirty="0"/>
              <a:t>]</a:t>
            </a:r>
            <a:r>
              <a:rPr kumimoji="1" lang="ko-KR" altLang="en-US" sz="2200" dirty="0"/>
              <a:t> </a:t>
            </a:r>
            <a:r>
              <a:rPr kumimoji="1" lang="en-US" altLang="ko-KR" sz="2200" dirty="0"/>
              <a:t>:</a:t>
            </a:r>
            <a:r>
              <a:rPr kumimoji="1" lang="ko-KR" altLang="en-US" sz="2200" dirty="0"/>
              <a:t> </a:t>
            </a:r>
            <a:r>
              <a:rPr kumimoji="1" lang="en-US" altLang="ko-KR" sz="2200" dirty="0"/>
              <a:t>0.8&lt;=p</a:t>
            </a:r>
          </a:p>
          <a:p>
            <a:pPr>
              <a:lnSpc>
                <a:spcPct val="150000"/>
              </a:lnSpc>
            </a:pPr>
            <a:r>
              <a:rPr kumimoji="1" lang="en-US" altLang="ko-KR" sz="2200" dirty="0"/>
              <a:t>p = 0.8</a:t>
            </a:r>
          </a:p>
          <a:p>
            <a:pPr>
              <a:lnSpc>
                <a:spcPct val="150000"/>
              </a:lnSpc>
            </a:pPr>
            <a:endParaRPr kumimoji="1" lang="ko-KR" alt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1ACC7-F876-AABA-43E0-59D5F1329BC4}"/>
              </a:ext>
            </a:extLst>
          </p:cNvPr>
          <p:cNvSpPr txBox="1"/>
          <p:nvPr/>
        </p:nvSpPr>
        <p:spPr>
          <a:xfrm>
            <a:off x="8978630" y="6536987"/>
            <a:ext cx="321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 </a:t>
            </a:r>
            <a:r>
              <a:rPr lang="en-US" altLang="ko-KR" sz="800" dirty="0"/>
              <a:t>:</a:t>
            </a:r>
            <a:r>
              <a:rPr lang="ko-KR" altLang="en-US" sz="800" dirty="0"/>
              <a:t> </a:t>
            </a:r>
            <a:r>
              <a:rPr lang="en" altLang="ko-KR" sz="800" dirty="0"/>
              <a:t>"Why 70/30 or 80/20 Relation Between Training and Testing Sets, </a:t>
            </a:r>
            <a:r>
              <a:rPr lang="en" altLang="ko-KR" sz="800" dirty="0" err="1"/>
              <a:t>Gholamy</a:t>
            </a:r>
            <a:r>
              <a:rPr lang="en" altLang="ko-KR" sz="800" dirty="0"/>
              <a:t> et al., 2018"</a:t>
            </a:r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404395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BAE94-6001-4C6C-6FDD-26F16E48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5" y="580085"/>
            <a:ext cx="10515600" cy="1280876"/>
          </a:xfrm>
        </p:spPr>
        <p:txBody>
          <a:bodyPr/>
          <a:lstStyle/>
          <a:p>
            <a:r>
              <a:rPr kumimoji="1" lang="ko-KR" altLang="en-US" dirty="0"/>
              <a:t>유사도 측정 방식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FE0D6D8-8FAB-B353-B63B-1F5E5E228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952198"/>
              </p:ext>
            </p:extLst>
          </p:nvPr>
        </p:nvGraphicFramePr>
        <p:xfrm>
          <a:off x="1057005" y="2000723"/>
          <a:ext cx="10105448" cy="30052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8336">
                  <a:extLst>
                    <a:ext uri="{9D8B030D-6E8A-4147-A177-3AD203B41FA5}">
                      <a16:colId xmlns:a16="http://schemas.microsoft.com/office/drawing/2014/main" val="2428264489"/>
                    </a:ext>
                  </a:extLst>
                </a:gridCol>
                <a:gridCol w="4875386">
                  <a:extLst>
                    <a:ext uri="{9D8B030D-6E8A-4147-A177-3AD203B41FA5}">
                      <a16:colId xmlns:a16="http://schemas.microsoft.com/office/drawing/2014/main" val="279485864"/>
                    </a:ext>
                  </a:extLst>
                </a:gridCol>
                <a:gridCol w="3297943">
                  <a:extLst>
                    <a:ext uri="{9D8B030D-6E8A-4147-A177-3AD203B41FA5}">
                      <a16:colId xmlns:a16="http://schemas.microsoft.com/office/drawing/2014/main" val="2211859446"/>
                    </a:ext>
                  </a:extLst>
                </a:gridCol>
                <a:gridCol w="633783">
                  <a:extLst>
                    <a:ext uri="{9D8B030D-6E8A-4147-A177-3AD203B41FA5}">
                      <a16:colId xmlns:a16="http://schemas.microsoft.com/office/drawing/2014/main" val="2983481968"/>
                    </a:ext>
                  </a:extLst>
                </a:gridCol>
              </a:tblGrid>
              <a:tr h="24197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200" b="0" dirty="0">
                          <a:effectLst/>
                        </a:rPr>
                        <a:t>방식</a:t>
                      </a:r>
                    </a:p>
                  </a:txBody>
                  <a:tcPr marL="33995" marR="33995" marT="33995" marB="3399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200" b="0" dirty="0">
                          <a:effectLst/>
                        </a:rPr>
                        <a:t>장점</a:t>
                      </a:r>
                    </a:p>
                  </a:txBody>
                  <a:tcPr marL="33995" marR="33995" marT="33995" marB="3399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200" b="0" dirty="0">
                          <a:effectLst/>
                        </a:rPr>
                        <a:t>단점</a:t>
                      </a:r>
                    </a:p>
                  </a:txBody>
                  <a:tcPr marL="33995" marR="33995" marT="33995" marB="3399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200" b="0">
                          <a:effectLst/>
                        </a:rPr>
                        <a:t>결과</a:t>
                      </a:r>
                    </a:p>
                  </a:txBody>
                  <a:tcPr marL="33995" marR="33995" marT="33995" marB="33995"/>
                </a:tc>
                <a:extLst>
                  <a:ext uri="{0D108BD9-81ED-4DB2-BD59-A6C34878D82A}">
                    <a16:rowId xmlns:a16="http://schemas.microsoft.com/office/drawing/2014/main" val="1709919459"/>
                  </a:ext>
                </a:extLst>
              </a:tr>
              <a:tr h="511520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" sz="1200" b="0" dirty="0">
                          <a:effectLst/>
                        </a:rPr>
                        <a:t>TF-IDF</a:t>
                      </a:r>
                      <a:endParaRPr lang="en" sz="1200" dirty="0">
                        <a:effectLst/>
                      </a:endParaRP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구현 간단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빠른 개발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기본 키워드 매칭</a:t>
                      </a: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의미 이해 부족</a:t>
                      </a:r>
                      <a:r>
                        <a:rPr lang="en-US" altLang="ko-KR" sz="1200" dirty="0">
                          <a:effectLst/>
                        </a:rPr>
                        <a:t>, "</a:t>
                      </a:r>
                      <a:r>
                        <a:rPr lang="ko-KR" altLang="en-US" sz="1200" dirty="0">
                          <a:effectLst/>
                        </a:rPr>
                        <a:t>소고기</a:t>
                      </a:r>
                      <a:r>
                        <a:rPr lang="en-US" altLang="ko-KR" sz="1200" dirty="0">
                          <a:effectLst/>
                        </a:rPr>
                        <a:t>"≠"</a:t>
                      </a:r>
                      <a:r>
                        <a:rPr lang="ko-KR" altLang="en-US" sz="1200" dirty="0">
                          <a:effectLst/>
                        </a:rPr>
                        <a:t>쇠고기</a:t>
                      </a:r>
                      <a:endParaRPr lang="en-US" altLang="ko-KR" sz="1200" dirty="0">
                        <a:effectLst/>
                      </a:endParaRP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>
                          <a:effectLst/>
                        </a:rPr>
                        <a:t>제외</a:t>
                      </a:r>
                    </a:p>
                  </a:txBody>
                  <a:tcPr marL="33995" marR="33995" marT="20397" marB="20397" anchor="ctr"/>
                </a:tc>
                <a:extLst>
                  <a:ext uri="{0D108BD9-81ED-4DB2-BD59-A6C34878D82A}">
                    <a16:rowId xmlns:a16="http://schemas.microsoft.com/office/drawing/2014/main" val="2256941227"/>
                  </a:ext>
                </a:extLst>
              </a:tr>
              <a:tr h="747607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b="0">
                          <a:effectLst/>
                        </a:rPr>
                        <a:t>규칙 기반</a:t>
                      </a:r>
                      <a:endParaRPr lang="ko-KR" altLang="en-US" sz="1200">
                        <a:effectLst/>
                      </a:endParaRP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초기 높은 성능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투명한 로직</a:t>
                      </a: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en-US" altLang="ko-KR" sz="1200">
                          <a:effectLst/>
                        </a:rPr>
                        <a:t>1000</a:t>
                      </a:r>
                      <a:r>
                        <a:rPr lang="ko-KR" altLang="en-US" sz="1200">
                          <a:effectLst/>
                        </a:rPr>
                        <a:t>개 음식점마다 수백 개 규칙 필요</a:t>
                      </a:r>
                      <a:r>
                        <a:rPr lang="en-US" altLang="ko-KR" sz="1200">
                          <a:effectLst/>
                        </a:rPr>
                        <a:t>, </a:t>
                      </a:r>
                      <a:r>
                        <a:rPr lang="ko-KR" altLang="en-US" sz="1200">
                          <a:effectLst/>
                        </a:rPr>
                        <a:t>유지보수 악몽</a:t>
                      </a:r>
                      <a:r>
                        <a:rPr lang="en-US" altLang="ko-KR" sz="1200">
                          <a:effectLst/>
                        </a:rPr>
                        <a:t>, </a:t>
                      </a:r>
                      <a:r>
                        <a:rPr lang="ko-KR" altLang="en-US" sz="1200">
                          <a:effectLst/>
                        </a:rPr>
                        <a:t>확장 불가능</a:t>
                      </a: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>
                          <a:effectLst/>
                        </a:rPr>
                        <a:t>제외</a:t>
                      </a:r>
                    </a:p>
                  </a:txBody>
                  <a:tcPr marL="33995" marR="33995" marT="20397" marB="20397" anchor="ctr"/>
                </a:tc>
                <a:extLst>
                  <a:ext uri="{0D108BD9-81ED-4DB2-BD59-A6C34878D82A}">
                    <a16:rowId xmlns:a16="http://schemas.microsoft.com/office/drawing/2014/main" val="3137936335"/>
                  </a:ext>
                </a:extLst>
              </a:tr>
              <a:tr h="629564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b="0" dirty="0">
                          <a:effectLst/>
                        </a:rPr>
                        <a:t>결정 트리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텍스트 불필요</a:t>
                      </a: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dirty="0" err="1">
                          <a:effectLst/>
                        </a:rPr>
                        <a:t>시그니처메뉴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미활용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텍스트 불가</a:t>
                      </a:r>
                      <a:r>
                        <a:rPr lang="en-US" altLang="ko-KR" sz="1200" dirty="0">
                          <a:effectLst/>
                        </a:rPr>
                        <a:t>), 2</a:t>
                      </a:r>
                      <a:r>
                        <a:rPr lang="ko-KR" altLang="en-US" sz="1200" dirty="0">
                          <a:effectLst/>
                        </a:rPr>
                        <a:t>개 특성만 사용</a:t>
                      </a:r>
                      <a:endParaRPr lang="en-US" altLang="ko-KR" sz="1200" dirty="0">
                        <a:effectLst/>
                      </a:endParaRP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>
                          <a:effectLst/>
                        </a:rPr>
                        <a:t>제외</a:t>
                      </a:r>
                    </a:p>
                  </a:txBody>
                  <a:tcPr marL="33995" marR="33995" marT="20397" marB="20397" anchor="ctr"/>
                </a:tc>
                <a:extLst>
                  <a:ext uri="{0D108BD9-81ED-4DB2-BD59-A6C34878D82A}">
                    <a16:rowId xmlns:a16="http://schemas.microsoft.com/office/drawing/2014/main" val="585754881"/>
                  </a:ext>
                </a:extLst>
              </a:tr>
              <a:tr h="865649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b="0" dirty="0" err="1">
                          <a:effectLst/>
                        </a:rPr>
                        <a:t>임베딩</a:t>
                      </a:r>
                      <a:endParaRPr lang="en" sz="1200" dirty="0">
                        <a:effectLst/>
                      </a:endParaRP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입력</a:t>
                      </a:r>
                      <a:r>
                        <a:rPr lang="en-US" altLang="ko-KR" sz="1200" dirty="0">
                          <a:effectLst/>
                        </a:rPr>
                        <a:t> </a:t>
                      </a:r>
                      <a:r>
                        <a:rPr lang="ko-KR" altLang="en-US" sz="1200" dirty="0">
                          <a:effectLst/>
                        </a:rPr>
                        <a:t>데이터 완전 활용</a:t>
                      </a:r>
                      <a:r>
                        <a:rPr lang="en-US" altLang="ko-KR" sz="1200" dirty="0">
                          <a:effectLst/>
                        </a:rPr>
                        <a:t>,</a:t>
                      </a:r>
                      <a:r>
                        <a:rPr lang="ko-KR" altLang="en-US" sz="1200" dirty="0">
                          <a:effectLst/>
                        </a:rPr>
                        <a:t> 확장 용이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유지보수 용이</a:t>
                      </a: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벡터 연산 이해 필요</a:t>
                      </a:r>
                    </a:p>
                  </a:txBody>
                  <a:tcPr marL="33995" marR="33995" marT="20397" marB="20397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ko-KR" altLang="en-US" sz="1200" b="0" dirty="0">
                          <a:effectLst/>
                        </a:rPr>
                        <a:t>선택</a:t>
                      </a:r>
                      <a:r>
                        <a:rPr lang="ko-KR" altLang="en-US" sz="1200" dirty="0">
                          <a:effectLst/>
                        </a:rPr>
                        <a:t> ✓</a:t>
                      </a:r>
                    </a:p>
                  </a:txBody>
                  <a:tcPr marL="33995" marR="33995" marT="20397" marB="20397" anchor="ctr"/>
                </a:tc>
                <a:extLst>
                  <a:ext uri="{0D108BD9-81ED-4DB2-BD59-A6C34878D82A}">
                    <a16:rowId xmlns:a16="http://schemas.microsoft.com/office/drawing/2014/main" val="3120516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76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7DE49-45E1-4105-13C0-356DED53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99" y="564204"/>
            <a:ext cx="10515600" cy="1131890"/>
          </a:xfrm>
        </p:spPr>
        <p:txBody>
          <a:bodyPr/>
          <a:lstStyle/>
          <a:p>
            <a:r>
              <a:rPr kumimoji="1" lang="ko-KR" altLang="en-US" dirty="0"/>
              <a:t>열 가중치 계산을 통한 추천 주류 생성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C2BBD32-9D47-290A-4032-AA74301BEE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094510"/>
              </p:ext>
            </p:extLst>
          </p:nvPr>
        </p:nvGraphicFramePr>
        <p:xfrm>
          <a:off x="1062318" y="2018401"/>
          <a:ext cx="5384800" cy="344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31805247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98886559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48526792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62339051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97379596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97302776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61371659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382633524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식당명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지역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음식종류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평균가격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평점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u="none" strike="noStrike" dirty="0" err="1">
                          <a:effectLst/>
                        </a:rPr>
                        <a:t>시그니처메뉴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추천주류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추천이유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4774475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443E1E-787F-E180-EE23-A89676EA3F7C}"/>
              </a:ext>
            </a:extLst>
          </p:cNvPr>
          <p:cNvSpPr txBox="1"/>
          <p:nvPr/>
        </p:nvSpPr>
        <p:spPr>
          <a:xfrm>
            <a:off x="1062318" y="2685513"/>
            <a:ext cx="10109265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선정 열</a:t>
            </a:r>
            <a:r>
              <a:rPr kumimoji="1" lang="en-US" altLang="ko-KR" dirty="0"/>
              <a:t>(Baseline)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음식 종류</a:t>
            </a:r>
            <a:r>
              <a:rPr kumimoji="1" lang="en-US" altLang="ko-KR" dirty="0"/>
              <a:t>,</a:t>
            </a:r>
            <a:r>
              <a:rPr kumimoji="1" lang="ko-KR" altLang="en-US" dirty="0"/>
              <a:t> 평균가격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시그니처메뉴</a:t>
            </a:r>
            <a:endParaRPr kumimoji="1"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Baseline – [</a:t>
            </a:r>
            <a:r>
              <a:rPr kumimoji="1" lang="ko-KR" altLang="en-US" dirty="0"/>
              <a:t>평균 가격 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시그니처메뉴</a:t>
            </a:r>
            <a:r>
              <a:rPr kumimoji="1" lang="en-US" altLang="ko-KR" dirty="0"/>
              <a:t>]</a:t>
            </a:r>
            <a:r>
              <a:rPr kumimoji="1" lang="ko-KR" altLang="en-US" dirty="0"/>
              <a:t> 정확도</a:t>
            </a:r>
            <a:r>
              <a:rPr kumimoji="1" lang="en-US" altLang="ko-KR" dirty="0"/>
              <a:t> = </a:t>
            </a:r>
            <a:r>
              <a:rPr kumimoji="1" lang="ko-KR" altLang="en-US" dirty="0"/>
              <a:t>음식 종류 기여도</a:t>
            </a:r>
            <a:r>
              <a:rPr kumimoji="1" lang="en-US" altLang="ko-KR" dirty="0"/>
              <a:t>(A)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Baseline – [</a:t>
            </a:r>
            <a:r>
              <a:rPr kumimoji="1" lang="ko-KR" altLang="en-US" dirty="0"/>
              <a:t>음식 종류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시그니처메뉴</a:t>
            </a:r>
            <a:r>
              <a:rPr kumimoji="1" lang="en-US" altLang="ko-KR" dirty="0"/>
              <a:t>]</a:t>
            </a:r>
            <a:r>
              <a:rPr kumimoji="1" lang="ko-KR" altLang="en-US" dirty="0"/>
              <a:t> 정확도</a:t>
            </a:r>
            <a:r>
              <a:rPr kumimoji="1" lang="en-US" altLang="ko-KR" dirty="0"/>
              <a:t> = </a:t>
            </a:r>
            <a:r>
              <a:rPr kumimoji="1" lang="ko-KR" altLang="en-US" dirty="0"/>
              <a:t>평균 가격 기여도</a:t>
            </a:r>
            <a:r>
              <a:rPr kumimoji="1" lang="en-US" altLang="ko-KR" dirty="0"/>
              <a:t>(B)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Baseline – [</a:t>
            </a:r>
            <a:r>
              <a:rPr kumimoji="1" lang="ko-KR" altLang="en-US" dirty="0"/>
              <a:t>평균 가격 </a:t>
            </a:r>
            <a:r>
              <a:rPr kumimoji="1" lang="en-US" altLang="ko-KR" dirty="0"/>
              <a:t>+</a:t>
            </a:r>
            <a:r>
              <a:rPr kumimoji="1" lang="ko-KR" altLang="en-US" dirty="0"/>
              <a:t> 음식 종류</a:t>
            </a:r>
            <a:r>
              <a:rPr kumimoji="1" lang="en-US" altLang="ko-KR" dirty="0"/>
              <a:t>]</a:t>
            </a:r>
            <a:r>
              <a:rPr kumimoji="1" lang="ko-KR" altLang="en-US" dirty="0"/>
              <a:t> 정확도</a:t>
            </a:r>
            <a:r>
              <a:rPr kumimoji="1" lang="en-US" altLang="ko-KR" dirty="0"/>
              <a:t> = </a:t>
            </a:r>
            <a:r>
              <a:rPr kumimoji="1" lang="ko-KR" altLang="en-US" dirty="0" err="1"/>
              <a:t>시그니처메뉴</a:t>
            </a:r>
            <a:r>
              <a:rPr kumimoji="1" lang="ko-KR" altLang="en-US" dirty="0"/>
              <a:t> 기여도</a:t>
            </a:r>
            <a:r>
              <a:rPr kumimoji="1" lang="en-US" altLang="ko-KR" dirty="0"/>
              <a:t>(C)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기여도 측정 방식</a:t>
            </a:r>
            <a:r>
              <a:rPr kumimoji="1" lang="en-US" altLang="ko-KR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식당명</a:t>
            </a:r>
            <a:r>
              <a:rPr kumimoji="1" lang="ko-KR" altLang="en-US" dirty="0"/>
              <a:t> 포함 후 정확도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Baseline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식당명</a:t>
            </a:r>
            <a:r>
              <a:rPr kumimoji="1" lang="ko-KR" altLang="en-US" dirty="0"/>
              <a:t> 기여도</a:t>
            </a:r>
            <a:r>
              <a:rPr kumimoji="1" lang="en-US" altLang="ko-KR" dirty="0"/>
              <a:t>(D)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지역 포함 후 정확도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Baseline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지역 기여도</a:t>
            </a:r>
            <a:r>
              <a:rPr kumimoji="1" lang="en-US" altLang="ko-KR" dirty="0"/>
              <a:t>(E)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평점 포함 후 정확도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Baseline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평점 기여도</a:t>
            </a:r>
            <a:r>
              <a:rPr kumimoji="1" lang="en-US" altLang="ko-KR" dirty="0"/>
              <a:t>(F)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가중치 계산</a:t>
            </a:r>
            <a:endParaRPr kumimoji="1"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 각 기여도 </a:t>
            </a:r>
            <a:r>
              <a:rPr kumimoji="1" lang="en-US" altLang="ko-KR" dirty="0"/>
              <a:t>/(A+B+C+D+E+F)</a:t>
            </a:r>
          </a:p>
        </p:txBody>
      </p:sp>
    </p:spTree>
    <p:extLst>
      <p:ext uri="{BB962C8B-B14F-4D97-AF65-F5344CB8AC3E}">
        <p14:creationId xmlns:p14="http://schemas.microsoft.com/office/powerpoint/2010/main" val="355144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C74AD-DAE6-7932-2AEA-4BF22C665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554477"/>
            <a:ext cx="10515600" cy="1136211"/>
          </a:xfrm>
        </p:spPr>
        <p:txBody>
          <a:bodyPr/>
          <a:lstStyle/>
          <a:p>
            <a:r>
              <a:rPr kumimoji="1" lang="ko-KR" altLang="en-US" dirty="0"/>
              <a:t>유사도에 따른 추천 이유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97C282-2A31-08CD-19DF-CAF417FED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209" y="2000723"/>
            <a:ext cx="9463391" cy="3748324"/>
          </a:xfrm>
        </p:spPr>
        <p:txBody>
          <a:bodyPr/>
          <a:lstStyle/>
          <a:p>
            <a:r>
              <a:rPr lang="ko-KR" altLang="en-US" dirty="0"/>
              <a:t>유사도별 자동 가중치 조정</a:t>
            </a:r>
            <a:endParaRPr lang="en-US" altLang="ko-KR" dirty="0"/>
          </a:p>
          <a:p>
            <a:r>
              <a:rPr lang="ko-KR" altLang="en-US" dirty="0"/>
              <a:t>기존 추천 이유와 생성된 추천 이유의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유사도 </a:t>
            </a:r>
            <a:r>
              <a:rPr lang="en-US" altLang="ko-KR" dirty="0"/>
              <a:t>=</a:t>
            </a:r>
            <a:r>
              <a:rPr lang="ko-KR" altLang="en-US" dirty="0"/>
              <a:t> 만족도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A3E9DD-48A6-D27C-B353-0D864D147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502" y="1690688"/>
            <a:ext cx="3498574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18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C9F1C-B3DA-D07C-78DE-B31BB091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45" y="571791"/>
            <a:ext cx="10515600" cy="1145939"/>
          </a:xfrm>
        </p:spPr>
        <p:txBody>
          <a:bodyPr/>
          <a:lstStyle/>
          <a:p>
            <a:r>
              <a:rPr kumimoji="1" lang="en-US" altLang="ko-KR" dirty="0"/>
              <a:t>LLM </a:t>
            </a:r>
            <a:r>
              <a:rPr kumimoji="1" lang="ko-KR" altLang="en-US" dirty="0"/>
              <a:t>모델 선정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D984AF-528F-333A-6F53-ECA62EC0F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2" y="1934871"/>
            <a:ext cx="10515600" cy="4351338"/>
          </a:xfrm>
        </p:spPr>
        <p:txBody>
          <a:bodyPr/>
          <a:lstStyle/>
          <a:p>
            <a:r>
              <a:rPr lang="ko-KR" altLang="en-US" dirty="0"/>
              <a:t>텍스트 벤치 마크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6F1A7FB-D70D-1095-043C-AC5C1FA9A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140049"/>
              </p:ext>
            </p:extLst>
          </p:nvPr>
        </p:nvGraphicFramePr>
        <p:xfrm>
          <a:off x="1060172" y="2719836"/>
          <a:ext cx="10071656" cy="24888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17914">
                  <a:extLst>
                    <a:ext uri="{9D8B030D-6E8A-4147-A177-3AD203B41FA5}">
                      <a16:colId xmlns:a16="http://schemas.microsoft.com/office/drawing/2014/main" val="516303271"/>
                    </a:ext>
                  </a:extLst>
                </a:gridCol>
                <a:gridCol w="2517914">
                  <a:extLst>
                    <a:ext uri="{9D8B030D-6E8A-4147-A177-3AD203B41FA5}">
                      <a16:colId xmlns:a16="http://schemas.microsoft.com/office/drawing/2014/main" val="21897226"/>
                    </a:ext>
                  </a:extLst>
                </a:gridCol>
                <a:gridCol w="2517914">
                  <a:extLst>
                    <a:ext uri="{9D8B030D-6E8A-4147-A177-3AD203B41FA5}">
                      <a16:colId xmlns:a16="http://schemas.microsoft.com/office/drawing/2014/main" val="1590500385"/>
                    </a:ext>
                  </a:extLst>
                </a:gridCol>
                <a:gridCol w="2517914">
                  <a:extLst>
                    <a:ext uri="{9D8B030D-6E8A-4147-A177-3AD203B41FA5}">
                      <a16:colId xmlns:a16="http://schemas.microsoft.com/office/drawing/2014/main" val="3037066732"/>
                    </a:ext>
                  </a:extLst>
                </a:gridCol>
              </a:tblGrid>
              <a:tr h="56200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b="0">
                          <a:effectLst/>
                        </a:rPr>
                        <a:t>항목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" b="0" dirty="0">
                          <a:effectLst/>
                        </a:rPr>
                        <a:t>Claude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" b="0">
                          <a:effectLst/>
                        </a:rPr>
                        <a:t>GPT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" b="0" dirty="0">
                          <a:effectLst/>
                        </a:rPr>
                        <a:t>Gemini-Flash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451838100"/>
                  </a:ext>
                </a:extLst>
              </a:tr>
              <a:tr h="48171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</a:rPr>
                        <a:t>주요 강점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</a:rPr>
                        <a:t>코드 생성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</a:rPr>
                        <a:t>다목적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텍스트 생성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188590412"/>
                  </a:ext>
                </a:extLst>
              </a:tr>
              <a:tr h="48171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프로젝트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오버 스펙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오버 스펙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적절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1748780230"/>
                  </a:ext>
                </a:extLst>
              </a:tr>
              <a:tr h="48171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</a:rPr>
                        <a:t>비용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>
                          <a:effectLst/>
                        </a:rPr>
                        <a:t>$3-8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dirty="0">
                          <a:effectLst/>
                        </a:rPr>
                        <a:t>$14.50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b="0" dirty="0">
                          <a:effectLst/>
                        </a:rPr>
                        <a:t>$0-1</a:t>
                      </a:r>
                      <a:r>
                        <a:rPr lang="ko-KR" altLang="en-US" dirty="0">
                          <a:effectLst/>
                        </a:rPr>
                        <a:t> 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367929503"/>
                  </a:ext>
                </a:extLst>
              </a:tr>
              <a:tr h="48171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</a:rPr>
                        <a:t>속도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>
                          <a:effectLst/>
                        </a:rPr>
                        <a:t>느림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중간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빠름</a:t>
                      </a:r>
                      <a:r>
                        <a:rPr lang="ko-KR" altLang="en-US" dirty="0">
                          <a:effectLst/>
                        </a:rPr>
                        <a:t> 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4058905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745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85941-884D-230D-0001-0EE4E9A91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61" y="595311"/>
            <a:ext cx="10515600" cy="1175122"/>
          </a:xfrm>
        </p:spPr>
        <p:txBody>
          <a:bodyPr/>
          <a:lstStyle/>
          <a:p>
            <a:r>
              <a:rPr kumimoji="1" lang="ko-KR" altLang="en-US" dirty="0" err="1"/>
              <a:t>임베딩</a:t>
            </a:r>
            <a:r>
              <a:rPr kumimoji="1" lang="ko-KR" altLang="en-US" dirty="0"/>
              <a:t> 모델 크기에 따른 성능 비교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FC54323-E479-D852-F2BA-91913987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9" y="1963063"/>
            <a:ext cx="8077202" cy="457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007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702FF-6F99-09E6-E3CC-E489E085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564204"/>
            <a:ext cx="10515600" cy="1145939"/>
          </a:xfrm>
        </p:spPr>
        <p:txBody>
          <a:bodyPr/>
          <a:lstStyle/>
          <a:p>
            <a:r>
              <a:rPr kumimoji="1" lang="ko-KR" altLang="en-US" dirty="0"/>
              <a:t>메서드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DC12ED0-B552-1295-BE5A-E2B63913B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577069"/>
              </p:ext>
            </p:extLst>
          </p:nvPr>
        </p:nvGraphicFramePr>
        <p:xfrm>
          <a:off x="1042480" y="2017713"/>
          <a:ext cx="10072560" cy="152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60870">
                  <a:extLst>
                    <a:ext uri="{9D8B030D-6E8A-4147-A177-3AD203B41FA5}">
                      <a16:colId xmlns:a16="http://schemas.microsoft.com/office/drawing/2014/main" val="3851970133"/>
                    </a:ext>
                  </a:extLst>
                </a:gridCol>
                <a:gridCol w="1716386">
                  <a:extLst>
                    <a:ext uri="{9D8B030D-6E8A-4147-A177-3AD203B41FA5}">
                      <a16:colId xmlns:a16="http://schemas.microsoft.com/office/drawing/2014/main" val="3431162569"/>
                    </a:ext>
                  </a:extLst>
                </a:gridCol>
                <a:gridCol w="1519184">
                  <a:extLst>
                    <a:ext uri="{9D8B030D-6E8A-4147-A177-3AD203B41FA5}">
                      <a16:colId xmlns:a16="http://schemas.microsoft.com/office/drawing/2014/main" val="2785783824"/>
                    </a:ext>
                  </a:extLst>
                </a:gridCol>
                <a:gridCol w="5076120">
                  <a:extLst>
                    <a:ext uri="{9D8B030D-6E8A-4147-A177-3AD203B41FA5}">
                      <a16:colId xmlns:a16="http://schemas.microsoft.com/office/drawing/2014/main" val="2603352764"/>
                    </a:ext>
                  </a:extLst>
                </a:gridCol>
              </a:tblGrid>
              <a:tr h="42313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메서드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고려 대상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범위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사용 곳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93266003"/>
                  </a:ext>
                </a:extLst>
              </a:tr>
              <a:tr h="36268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코사인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방향만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dirty="0">
                          <a:effectLst/>
                        </a:rPr>
                        <a:t>-1</a:t>
                      </a:r>
                      <a:r>
                        <a:rPr lang="ko-KR" altLang="en-US" dirty="0">
                          <a:effectLst/>
                        </a:rPr>
                        <a:t> </a:t>
                      </a:r>
                      <a:r>
                        <a:rPr lang="en-US" altLang="ko-KR" dirty="0">
                          <a:effectLst/>
                        </a:rPr>
                        <a:t>~</a:t>
                      </a:r>
                      <a:r>
                        <a:rPr lang="ko-KR" altLang="en-US" dirty="0">
                          <a:effectLst/>
                        </a:rPr>
                        <a:t> </a:t>
                      </a:r>
                      <a:r>
                        <a:rPr lang="en-US" altLang="ko-KR" dirty="0">
                          <a:effectLst/>
                        </a:rPr>
                        <a:t>1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 err="1">
                          <a:effectLst/>
                        </a:rPr>
                        <a:t>임베딩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추천 시스템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729213753"/>
                  </a:ext>
                </a:extLst>
              </a:tr>
              <a:tr h="36268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" b="0" dirty="0">
                          <a:effectLst/>
                        </a:rPr>
                        <a:t>Dot Product</a:t>
                      </a:r>
                      <a:endParaRPr lang="en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방향 </a:t>
                      </a:r>
                      <a:r>
                        <a:rPr lang="en-US" altLang="ko-KR" dirty="0">
                          <a:effectLst/>
                        </a:rPr>
                        <a:t>+</a:t>
                      </a:r>
                      <a:r>
                        <a:rPr lang="ko-KR" altLang="en-US" dirty="0">
                          <a:effectLst/>
                        </a:rPr>
                        <a:t> 크기</a:t>
                      </a:r>
                      <a:endParaRPr lang="en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무한대</a:t>
                      </a:r>
                      <a:endParaRPr lang="en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신경망 내부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대규모 실시간 </a:t>
                      </a:r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ko-KR" altLang="en-US" dirty="0">
                          <a:effectLst/>
                        </a:rPr>
                        <a:t>속도 중요할 때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2227428446"/>
                  </a:ext>
                </a:extLst>
              </a:tr>
              <a:tr h="36268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b="0" dirty="0">
                          <a:effectLst/>
                        </a:rPr>
                        <a:t>거리</a:t>
                      </a:r>
                      <a:endParaRPr lang="ko-KR" altLang="en-US" dirty="0">
                        <a:effectLst/>
                      </a:endParaRP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dirty="0">
                          <a:effectLst/>
                        </a:rPr>
                        <a:t>거리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dirty="0">
                          <a:effectLst/>
                        </a:rPr>
                        <a:t>0</a:t>
                      </a:r>
                      <a:r>
                        <a:rPr lang="ko-KR" altLang="en-US" dirty="0">
                          <a:effectLst/>
                        </a:rPr>
                        <a:t> </a:t>
                      </a:r>
                      <a:r>
                        <a:rPr lang="en-US" altLang="ko-KR" dirty="0">
                          <a:effectLst/>
                        </a:rPr>
                        <a:t>~</a:t>
                      </a:r>
                      <a:r>
                        <a:rPr lang="ko-KR" altLang="en-US" dirty="0">
                          <a:effectLst/>
                        </a:rPr>
                        <a:t> 무한대</a:t>
                      </a:r>
                    </a:p>
                  </a:txBody>
                  <a:tcPr marL="76200" marR="7620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" dirty="0">
                          <a:effectLst/>
                        </a:rPr>
                        <a:t>GPS, </a:t>
                      </a:r>
                      <a:r>
                        <a:rPr lang="ko-KR" altLang="en-US" dirty="0">
                          <a:effectLst/>
                        </a:rPr>
                        <a:t>클러스터링 </a:t>
                      </a:r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ko-KR" altLang="en-US" dirty="0">
                          <a:effectLst/>
                        </a:rPr>
                        <a:t>절대 거리 중요할 때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</a:p>
                  </a:txBody>
                  <a:tcPr marL="76200" marR="76200" anchor="ctr"/>
                </a:tc>
                <a:extLst>
                  <a:ext uri="{0D108BD9-81ED-4DB2-BD59-A6C34878D82A}">
                    <a16:rowId xmlns:a16="http://schemas.microsoft.com/office/drawing/2014/main" val="3732410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433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80838-7CD0-E5B1-43F2-E11A1708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45" y="603115"/>
            <a:ext cx="10515600" cy="1155667"/>
          </a:xfrm>
        </p:spPr>
        <p:txBody>
          <a:bodyPr/>
          <a:lstStyle/>
          <a:p>
            <a:r>
              <a:rPr kumimoji="1" lang="en-US" altLang="ko-KR" dirty="0"/>
              <a:t>Train/Test</a:t>
            </a:r>
            <a:r>
              <a:rPr kumimoji="1" lang="ko-KR" altLang="en-US" dirty="0"/>
              <a:t> 프로세스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EF49D4-5CF0-99DA-3333-77FB90A1B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288" y="1972790"/>
            <a:ext cx="7772400" cy="439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1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4F7A1-A5E6-2923-C6FC-835E357D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72" y="525780"/>
            <a:ext cx="10515600" cy="1164908"/>
          </a:xfrm>
        </p:spPr>
        <p:txBody>
          <a:bodyPr/>
          <a:lstStyle/>
          <a:p>
            <a:r>
              <a:rPr kumimoji="1" lang="ko-KR" altLang="en-US" dirty="0"/>
              <a:t>배포 방식 결정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181831-9DFD-7C3C-BDBD-B1E135F77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988819"/>
            <a:ext cx="10317480" cy="434340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검토한 옵션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345C49-6F6B-28B8-7EB6-CBD429302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606503"/>
              </p:ext>
            </p:extLst>
          </p:nvPr>
        </p:nvGraphicFramePr>
        <p:xfrm>
          <a:off x="1036320" y="2721852"/>
          <a:ext cx="10119360" cy="35629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8767">
                  <a:extLst>
                    <a:ext uri="{9D8B030D-6E8A-4147-A177-3AD203B41FA5}">
                      <a16:colId xmlns:a16="http://schemas.microsoft.com/office/drawing/2014/main" val="2011691603"/>
                    </a:ext>
                  </a:extLst>
                </a:gridCol>
                <a:gridCol w="3677478">
                  <a:extLst>
                    <a:ext uri="{9D8B030D-6E8A-4147-A177-3AD203B41FA5}">
                      <a16:colId xmlns:a16="http://schemas.microsoft.com/office/drawing/2014/main" val="2027088446"/>
                    </a:ext>
                  </a:extLst>
                </a:gridCol>
                <a:gridCol w="3856383">
                  <a:extLst>
                    <a:ext uri="{9D8B030D-6E8A-4147-A177-3AD203B41FA5}">
                      <a16:colId xmlns:a16="http://schemas.microsoft.com/office/drawing/2014/main" val="281020721"/>
                    </a:ext>
                  </a:extLst>
                </a:gridCol>
                <a:gridCol w="1186732">
                  <a:extLst>
                    <a:ext uri="{9D8B030D-6E8A-4147-A177-3AD203B41FA5}">
                      <a16:colId xmlns:a16="http://schemas.microsoft.com/office/drawing/2014/main" val="3515940885"/>
                    </a:ext>
                  </a:extLst>
                </a:gridCol>
              </a:tblGrid>
              <a:tr h="34024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800" b="0" dirty="0">
                          <a:effectLst/>
                        </a:rPr>
                        <a:t>방식</a:t>
                      </a:r>
                    </a:p>
                  </a:txBody>
                  <a:tcPr marL="76072" marR="76072" marT="76072" marB="7607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800" b="0">
                          <a:effectLst/>
                        </a:rPr>
                        <a:t>장점</a:t>
                      </a:r>
                    </a:p>
                  </a:txBody>
                  <a:tcPr marL="76072" marR="76072" marT="76072" marB="7607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800" b="0" dirty="0">
                          <a:effectLst/>
                        </a:rPr>
                        <a:t>단점</a:t>
                      </a:r>
                    </a:p>
                  </a:txBody>
                  <a:tcPr marL="76072" marR="76072" marT="76072" marB="7607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800" b="0">
                          <a:effectLst/>
                        </a:rPr>
                        <a:t>결과</a:t>
                      </a:r>
                    </a:p>
                  </a:txBody>
                  <a:tcPr marL="76072" marR="76072" marT="76072" marB="76072"/>
                </a:tc>
                <a:extLst>
                  <a:ext uri="{0D108BD9-81ED-4DB2-BD59-A6C34878D82A}">
                    <a16:rowId xmlns:a16="http://schemas.microsoft.com/office/drawing/2014/main" val="1404960558"/>
                  </a:ext>
                </a:extLst>
              </a:tr>
              <a:tr h="72940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>
                          <a:effectLst/>
                        </a:rPr>
                        <a:t>웹</a:t>
                      </a:r>
                      <a:endParaRPr lang="ko-KR" altLang="en-US" sz="1800">
                        <a:effectLst/>
                      </a:endParaRP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>
                          <a:effectLst/>
                        </a:rPr>
                        <a:t>유지보수</a:t>
                      </a:r>
                      <a:r>
                        <a:rPr lang="en-US" altLang="ko-KR" sz="1800">
                          <a:effectLst/>
                        </a:rPr>
                        <a:t>/</a:t>
                      </a:r>
                      <a:r>
                        <a:rPr lang="ko-KR" altLang="en-US" sz="1800">
                          <a:effectLst/>
                        </a:rPr>
                        <a:t>확장성 우수</a:t>
                      </a: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기존 시스템과 분리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추가 접속 필요</a:t>
                      </a: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제외</a:t>
                      </a:r>
                    </a:p>
                  </a:txBody>
                  <a:tcPr marL="76072" marR="76072" marT="45643" marB="45643" anchor="ctr"/>
                </a:tc>
                <a:extLst>
                  <a:ext uri="{0D108BD9-81ED-4DB2-BD59-A6C34878D82A}">
                    <a16:rowId xmlns:a16="http://schemas.microsoft.com/office/drawing/2014/main" val="3095623840"/>
                  </a:ext>
                </a:extLst>
              </a:tr>
              <a:tr h="72940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>
                          <a:effectLst/>
                        </a:rPr>
                        <a:t>데스크톱 앱</a:t>
                      </a:r>
                      <a:endParaRPr lang="ko-KR" altLang="en-US" sz="1800">
                        <a:effectLst/>
                      </a:endParaRP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>
                          <a:effectLst/>
                        </a:rPr>
                        <a:t>유지보수</a:t>
                      </a:r>
                      <a:r>
                        <a:rPr lang="en-US" altLang="ko-KR" sz="1800">
                          <a:effectLst/>
                        </a:rPr>
                        <a:t>/</a:t>
                      </a:r>
                      <a:r>
                        <a:rPr lang="ko-KR" altLang="en-US" sz="1800">
                          <a:effectLst/>
                        </a:rPr>
                        <a:t>확장성 우수</a:t>
                      </a: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기존 시스템과 분리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별도 실행 필요</a:t>
                      </a: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제외</a:t>
                      </a:r>
                    </a:p>
                  </a:txBody>
                  <a:tcPr marL="76072" marR="76072" marT="45643" marB="45643" anchor="ctr"/>
                </a:tc>
                <a:extLst>
                  <a:ext uri="{0D108BD9-81ED-4DB2-BD59-A6C34878D82A}">
                    <a16:rowId xmlns:a16="http://schemas.microsoft.com/office/drawing/2014/main" val="1975266616"/>
                  </a:ext>
                </a:extLst>
              </a:tr>
              <a:tr h="72940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>
                          <a:effectLst/>
                        </a:rPr>
                        <a:t>엑셀 </a:t>
                      </a:r>
                      <a:r>
                        <a:rPr lang="en" sz="1800" b="0">
                          <a:effectLst/>
                        </a:rPr>
                        <a:t>VBA</a:t>
                      </a:r>
                      <a:endParaRPr lang="en" sz="1800">
                        <a:effectLst/>
                      </a:endParaRP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엑셀 내 직접 실행</a:t>
                      </a: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확장성 부족</a:t>
                      </a:r>
                      <a:r>
                        <a:rPr lang="en-US" altLang="ko-KR" sz="1800" dirty="0">
                          <a:effectLst/>
                        </a:rPr>
                        <a:t>, MacOS</a:t>
                      </a:r>
                      <a:r>
                        <a:rPr lang="en" sz="1800" dirty="0">
                          <a:effectLst/>
                        </a:rPr>
                        <a:t> </a:t>
                      </a:r>
                      <a:r>
                        <a:rPr lang="ko-KR" altLang="en-US" sz="1800" dirty="0">
                          <a:effectLst/>
                        </a:rPr>
                        <a:t>지원 미흡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유지보수 어려움</a:t>
                      </a: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제외</a:t>
                      </a:r>
                    </a:p>
                  </a:txBody>
                  <a:tcPr marL="76072" marR="76072" marT="45643" marB="45643" anchor="ctr"/>
                </a:tc>
                <a:extLst>
                  <a:ext uri="{0D108BD9-81ED-4DB2-BD59-A6C34878D82A}">
                    <a16:rowId xmlns:a16="http://schemas.microsoft.com/office/drawing/2014/main" val="2627461379"/>
                  </a:ext>
                </a:extLst>
              </a:tr>
              <a:tr h="94826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>
                          <a:effectLst/>
                        </a:rPr>
                        <a:t>슬랙 봇</a:t>
                      </a:r>
                      <a:endParaRPr lang="ko-KR" altLang="en-US" sz="1800">
                        <a:effectLst/>
                      </a:endParaRP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기존 워크플로우 통합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이벤트 기반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비용 효율적</a:t>
                      </a: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76072" marR="76072" marT="45643" marB="45643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 dirty="0">
                          <a:effectLst/>
                        </a:rPr>
                        <a:t>선택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6072" marR="76072" marT="45643" marB="45643" anchor="ctr"/>
                </a:tc>
                <a:extLst>
                  <a:ext uri="{0D108BD9-81ED-4DB2-BD59-A6C34878D82A}">
                    <a16:rowId xmlns:a16="http://schemas.microsoft.com/office/drawing/2014/main" val="4219116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55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D436B-4872-3659-9872-A1C55003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62" y="575953"/>
            <a:ext cx="10515600" cy="1114735"/>
          </a:xfrm>
        </p:spPr>
        <p:txBody>
          <a:bodyPr>
            <a:normAutofit/>
          </a:bodyPr>
          <a:lstStyle/>
          <a:p>
            <a:r>
              <a:rPr kumimoji="1" lang="en-US" altLang="ko-KR" sz="4300" dirty="0"/>
              <a:t>Slack </a:t>
            </a:r>
            <a:r>
              <a:rPr kumimoji="1" lang="ko-KR" altLang="en-US" sz="4300" dirty="0"/>
              <a:t>봇 자동화</a:t>
            </a:r>
            <a:r>
              <a:rPr kumimoji="1" lang="en-US" altLang="ko-KR" sz="4300" dirty="0"/>
              <a:t>: Notion DB vs Excel </a:t>
            </a:r>
            <a:r>
              <a:rPr kumimoji="1" lang="ko-KR" altLang="en-US" sz="4300" dirty="0"/>
              <a:t>비교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E56B69-63D5-EB8E-B159-0736033BE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11578"/>
              </p:ext>
            </p:extLst>
          </p:nvPr>
        </p:nvGraphicFramePr>
        <p:xfrm>
          <a:off x="1054924" y="2018774"/>
          <a:ext cx="10082151" cy="32613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97266">
                  <a:extLst>
                    <a:ext uri="{9D8B030D-6E8A-4147-A177-3AD203B41FA5}">
                      <a16:colId xmlns:a16="http://schemas.microsoft.com/office/drawing/2014/main" val="2492007730"/>
                    </a:ext>
                  </a:extLst>
                </a:gridCol>
                <a:gridCol w="3780095">
                  <a:extLst>
                    <a:ext uri="{9D8B030D-6E8A-4147-A177-3AD203B41FA5}">
                      <a16:colId xmlns:a16="http://schemas.microsoft.com/office/drawing/2014/main" val="2869334139"/>
                    </a:ext>
                  </a:extLst>
                </a:gridCol>
                <a:gridCol w="4304790">
                  <a:extLst>
                    <a:ext uri="{9D8B030D-6E8A-4147-A177-3AD203B41FA5}">
                      <a16:colId xmlns:a16="http://schemas.microsoft.com/office/drawing/2014/main" val="3107835987"/>
                    </a:ext>
                  </a:extLst>
                </a:gridCol>
              </a:tblGrid>
              <a:tr h="42966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800" b="0" dirty="0">
                          <a:effectLst/>
                        </a:rPr>
                        <a:t>항목</a:t>
                      </a:r>
                    </a:p>
                  </a:txBody>
                  <a:tcPr marL="74509" marR="74509" marT="74509" marB="7450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" sz="1800" b="0" dirty="0">
                          <a:effectLst/>
                        </a:rPr>
                        <a:t>Notion DB</a:t>
                      </a:r>
                      <a:endParaRPr lang="en-US" altLang="ko-KR" sz="1800" b="0" dirty="0">
                        <a:effectLst/>
                      </a:endParaRPr>
                    </a:p>
                  </a:txBody>
                  <a:tcPr marL="74509" marR="74509" marT="74509" marB="7450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" sz="1800" b="0">
                          <a:effectLst/>
                        </a:rPr>
                        <a:t>Excel </a:t>
                      </a:r>
                      <a:r>
                        <a:rPr lang="ko-KR" altLang="en-US" sz="1800" b="0">
                          <a:effectLst/>
                        </a:rPr>
                        <a:t>파일</a:t>
                      </a:r>
                    </a:p>
                  </a:txBody>
                  <a:tcPr marL="74509" marR="74509" marT="74509" marB="74509"/>
                </a:tc>
                <a:extLst>
                  <a:ext uri="{0D108BD9-81ED-4DB2-BD59-A6C34878D82A}">
                    <a16:rowId xmlns:a16="http://schemas.microsoft.com/office/drawing/2014/main" val="3481038571"/>
                  </a:ext>
                </a:extLst>
              </a:tr>
              <a:tr h="92599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 dirty="0">
                          <a:effectLst/>
                        </a:rPr>
                        <a:t>요청 시나리오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4509" marR="74509" marT="44706" marB="4470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800" dirty="0">
                          <a:effectLst/>
                        </a:rPr>
                        <a:t>A</a:t>
                      </a:r>
                      <a:r>
                        <a:rPr lang="ko-KR" altLang="en-US" sz="1800" dirty="0">
                          <a:effectLst/>
                        </a:rPr>
                        <a:t> 요청자와 </a:t>
                      </a:r>
                      <a:r>
                        <a:rPr lang="en-US" altLang="ko-KR" sz="1800" dirty="0">
                          <a:effectLst/>
                        </a:rPr>
                        <a:t>B</a:t>
                      </a:r>
                      <a:r>
                        <a:rPr lang="ko-KR" altLang="en-US" sz="1800" dirty="0">
                          <a:effectLst/>
                        </a:rPr>
                        <a:t> 요청자가 동시에 추천 주류 추천 요청 가능</a:t>
                      </a:r>
                    </a:p>
                  </a:txBody>
                  <a:tcPr marL="74509" marR="74509" marT="44706" marB="4470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800" dirty="0">
                          <a:effectLst/>
                        </a:rPr>
                        <a:t>A</a:t>
                      </a:r>
                      <a:r>
                        <a:rPr lang="ko-KR" altLang="en-US" sz="1800" dirty="0">
                          <a:effectLst/>
                        </a:rPr>
                        <a:t> </a:t>
                      </a:r>
                      <a:r>
                        <a:rPr lang="ko-KR" altLang="en-US" sz="1800" dirty="0" err="1">
                          <a:effectLst/>
                        </a:rPr>
                        <a:t>요청자</a:t>
                      </a:r>
                      <a:r>
                        <a:rPr lang="ko-KR" altLang="en-US" sz="1800" dirty="0">
                          <a:effectLst/>
                        </a:rPr>
                        <a:t> 요청 </a:t>
                      </a:r>
                      <a:r>
                        <a:rPr lang="en-US" altLang="ko-KR" sz="1800" dirty="0">
                          <a:effectLst/>
                        </a:rPr>
                        <a:t>-&gt;</a:t>
                      </a:r>
                      <a:r>
                        <a:rPr lang="ko-KR" altLang="en-US" sz="1800" dirty="0">
                          <a:effectLst/>
                        </a:rPr>
                        <a:t> </a:t>
                      </a:r>
                      <a:r>
                        <a:rPr lang="en-US" altLang="ko-KR" sz="1800" dirty="0">
                          <a:effectLst/>
                        </a:rPr>
                        <a:t>A </a:t>
                      </a:r>
                      <a:r>
                        <a:rPr lang="ko-KR" altLang="en-US" sz="1800" dirty="0">
                          <a:effectLst/>
                        </a:rPr>
                        <a:t>완료 </a:t>
                      </a:r>
                      <a:r>
                        <a:rPr lang="en-US" altLang="ko-KR" sz="1800" dirty="0">
                          <a:effectLst/>
                        </a:rPr>
                        <a:t>-&gt;</a:t>
                      </a:r>
                      <a:r>
                        <a:rPr lang="ko-KR" altLang="en-US" sz="1800" dirty="0">
                          <a:effectLst/>
                        </a:rPr>
                        <a:t> 파일 반환 </a:t>
                      </a:r>
                      <a:r>
                        <a:rPr lang="en-US" altLang="ko-KR" sz="1800" dirty="0">
                          <a:effectLst/>
                        </a:rPr>
                        <a:t>-&gt;</a:t>
                      </a:r>
                      <a:r>
                        <a:rPr lang="ko-KR" altLang="en-US" sz="1800" dirty="0">
                          <a:effectLst/>
                        </a:rPr>
                        <a:t> </a:t>
                      </a:r>
                      <a:r>
                        <a:rPr lang="en-US" altLang="ko-KR" sz="1800" dirty="0">
                          <a:effectLst/>
                        </a:rPr>
                        <a:t>B </a:t>
                      </a:r>
                      <a:r>
                        <a:rPr lang="ko-KR" altLang="en-US" sz="1800" dirty="0">
                          <a:effectLst/>
                        </a:rPr>
                        <a:t>요청자에게 파일 전달 </a:t>
                      </a:r>
                      <a:r>
                        <a:rPr lang="en-US" altLang="ko-KR" sz="1800" dirty="0">
                          <a:effectLst/>
                        </a:rPr>
                        <a:t>-&gt;</a:t>
                      </a:r>
                      <a:r>
                        <a:rPr lang="ko-KR" altLang="en-US" sz="1800" dirty="0">
                          <a:effectLst/>
                        </a:rPr>
                        <a:t> </a:t>
                      </a:r>
                      <a:r>
                        <a:rPr lang="en-US" altLang="ko-KR" sz="1800" dirty="0">
                          <a:effectLst/>
                        </a:rPr>
                        <a:t>B</a:t>
                      </a:r>
                      <a:r>
                        <a:rPr lang="ko-KR" altLang="en-US" sz="1800" dirty="0">
                          <a:effectLst/>
                        </a:rPr>
                        <a:t> 작업 </a:t>
                      </a:r>
                      <a:r>
                        <a:rPr lang="en-US" altLang="ko-KR" sz="1800" dirty="0">
                          <a:effectLst/>
                        </a:rPr>
                        <a:t>-&gt;</a:t>
                      </a:r>
                      <a:r>
                        <a:rPr lang="ko-KR" altLang="en-US" sz="1800" dirty="0">
                          <a:effectLst/>
                        </a:rPr>
                        <a:t> 파일 업로드</a:t>
                      </a:r>
                      <a:r>
                        <a:rPr lang="en-US" altLang="ko-KR" sz="1800" dirty="0">
                          <a:effectLst/>
                        </a:rPr>
                        <a:t>(</a:t>
                      </a:r>
                      <a:r>
                        <a:rPr lang="ko-KR" altLang="en-US" sz="1800" dirty="0">
                          <a:effectLst/>
                        </a:rPr>
                        <a:t>순차 진행</a:t>
                      </a:r>
                      <a:r>
                        <a:rPr lang="en-US" altLang="ko-KR" sz="1800" dirty="0">
                          <a:effectLst/>
                        </a:rPr>
                        <a:t>)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4509" marR="74509" marT="44706" marB="44706" anchor="ctr"/>
                </a:tc>
                <a:extLst>
                  <a:ext uri="{0D108BD9-81ED-4DB2-BD59-A6C34878D82A}">
                    <a16:rowId xmlns:a16="http://schemas.microsoft.com/office/drawing/2014/main" val="910518626"/>
                  </a:ext>
                </a:extLst>
              </a:tr>
              <a:tr h="635223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 dirty="0">
                          <a:effectLst/>
                        </a:rPr>
                        <a:t>데이터 처리 방식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4509" marR="74509" marT="44706" marB="4470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병렬 처리 </a:t>
                      </a:r>
                      <a:r>
                        <a:rPr lang="en-US" altLang="ko-KR" sz="1800" dirty="0">
                          <a:effectLst/>
                        </a:rPr>
                        <a:t>–</a:t>
                      </a:r>
                      <a:r>
                        <a:rPr lang="ko-KR" altLang="en-US" sz="1800" dirty="0">
                          <a:effectLst/>
                        </a:rPr>
                        <a:t> 두 요청 동시 처리</a:t>
                      </a:r>
                    </a:p>
                  </a:txBody>
                  <a:tcPr marL="74509" marR="74509" marT="44706" marB="4470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직렬 처리 </a:t>
                      </a:r>
                      <a:r>
                        <a:rPr lang="en-US" altLang="ko-KR" sz="1800" dirty="0">
                          <a:effectLst/>
                        </a:rPr>
                        <a:t>–</a:t>
                      </a:r>
                      <a:r>
                        <a:rPr lang="ko-KR" altLang="en-US" sz="1800" dirty="0">
                          <a:effectLst/>
                        </a:rPr>
                        <a:t> 한 번에 하나씩만 처리</a:t>
                      </a:r>
                    </a:p>
                  </a:txBody>
                  <a:tcPr marL="74509" marR="74509" marT="44706" marB="44706" anchor="ctr"/>
                </a:tc>
                <a:extLst>
                  <a:ext uri="{0D108BD9-81ED-4DB2-BD59-A6C34878D82A}">
                    <a16:rowId xmlns:a16="http://schemas.microsoft.com/office/drawing/2014/main" val="1280118277"/>
                  </a:ext>
                </a:extLst>
              </a:tr>
              <a:tr h="635223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 dirty="0">
                          <a:effectLst/>
                        </a:rPr>
                        <a:t>팁 협업 시나리오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4509" marR="74509" marT="44706" marB="4470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다양한 추천 주류 동시 추천 가능</a:t>
                      </a:r>
                    </a:p>
                  </a:txBody>
                  <a:tcPr marL="74509" marR="74509" marT="44706" marB="4470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한 번에 하나의 추천 주류만 추천 가능</a:t>
                      </a:r>
                    </a:p>
                  </a:txBody>
                  <a:tcPr marL="74509" marR="74509" marT="44706" marB="44706" anchor="ctr"/>
                </a:tc>
                <a:extLst>
                  <a:ext uri="{0D108BD9-81ED-4DB2-BD59-A6C34878D82A}">
                    <a16:rowId xmlns:a16="http://schemas.microsoft.com/office/drawing/2014/main" val="1898416834"/>
                  </a:ext>
                </a:extLst>
              </a:tr>
              <a:tr h="635223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b="0" dirty="0">
                          <a:effectLst/>
                        </a:rPr>
                        <a:t>비즈니스 영향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74509" marR="74509" marT="44706" marB="4470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팀 생산성 최대화</a:t>
                      </a:r>
                      <a:r>
                        <a:rPr lang="en-US" altLang="ko-KR" sz="1800" dirty="0">
                          <a:effectLst/>
                        </a:rPr>
                        <a:t>,</a:t>
                      </a:r>
                      <a:r>
                        <a:rPr lang="ko-KR" altLang="en-US" sz="1800" dirty="0">
                          <a:effectLst/>
                        </a:rPr>
                        <a:t> 빠른 의사결정</a:t>
                      </a:r>
                      <a:endParaRPr lang="en" sz="1800" dirty="0">
                        <a:effectLst/>
                      </a:endParaRPr>
                    </a:p>
                  </a:txBody>
                  <a:tcPr marL="74509" marR="74509" marT="44706" marB="4470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800" dirty="0">
                          <a:effectLst/>
                        </a:rPr>
                        <a:t>병목 현상</a:t>
                      </a:r>
                      <a:r>
                        <a:rPr lang="en-US" altLang="ko-KR" sz="1800" dirty="0">
                          <a:effectLst/>
                        </a:rPr>
                        <a:t>,</a:t>
                      </a:r>
                      <a:r>
                        <a:rPr lang="ko-KR" altLang="en-US" sz="1800" dirty="0">
                          <a:effectLst/>
                        </a:rPr>
                        <a:t> 팀 협업 비효율</a:t>
                      </a:r>
                      <a:r>
                        <a:rPr lang="en-US" altLang="ko-KR" sz="1800" dirty="0">
                          <a:effectLst/>
                        </a:rPr>
                        <a:t>,</a:t>
                      </a:r>
                      <a:r>
                        <a:rPr lang="ko-KR" altLang="en-US" sz="1800" dirty="0">
                          <a:effectLst/>
                        </a:rPr>
                        <a:t> 시간 낭비</a:t>
                      </a:r>
                    </a:p>
                  </a:txBody>
                  <a:tcPr marL="74509" marR="74509" marT="44706" marB="44706" anchor="ctr"/>
                </a:tc>
                <a:extLst>
                  <a:ext uri="{0D108BD9-81ED-4DB2-BD59-A6C34878D82A}">
                    <a16:rowId xmlns:a16="http://schemas.microsoft.com/office/drawing/2014/main" val="160117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639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79392-22B2-3260-A12D-73AB5763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564204"/>
            <a:ext cx="10515600" cy="1126484"/>
          </a:xfrm>
        </p:spPr>
        <p:txBody>
          <a:bodyPr/>
          <a:lstStyle/>
          <a:p>
            <a:r>
              <a:rPr kumimoji="1" lang="en-US" altLang="ko-KR" dirty="0"/>
              <a:t>Cloud Run vs Lambda</a:t>
            </a:r>
            <a:endParaRPr kumimoji="1"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672B25B-1480-8CBF-211A-7B8AE000D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196847"/>
              </p:ext>
            </p:extLst>
          </p:nvPr>
        </p:nvGraphicFramePr>
        <p:xfrm>
          <a:off x="1067255" y="2001588"/>
          <a:ext cx="10061332" cy="359996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8854">
                  <a:extLst>
                    <a:ext uri="{9D8B030D-6E8A-4147-A177-3AD203B41FA5}">
                      <a16:colId xmlns:a16="http://schemas.microsoft.com/office/drawing/2014/main" val="2872696310"/>
                    </a:ext>
                  </a:extLst>
                </a:gridCol>
                <a:gridCol w="4216644">
                  <a:extLst>
                    <a:ext uri="{9D8B030D-6E8A-4147-A177-3AD203B41FA5}">
                      <a16:colId xmlns:a16="http://schemas.microsoft.com/office/drawing/2014/main" val="786257893"/>
                    </a:ext>
                  </a:extLst>
                </a:gridCol>
                <a:gridCol w="3645834">
                  <a:extLst>
                    <a:ext uri="{9D8B030D-6E8A-4147-A177-3AD203B41FA5}">
                      <a16:colId xmlns:a16="http://schemas.microsoft.com/office/drawing/2014/main" val="2168240449"/>
                    </a:ext>
                  </a:extLst>
                </a:gridCol>
              </a:tblGrid>
              <a:tr h="24827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ko-KR" altLang="en-US" sz="1000" b="0">
                          <a:effectLst/>
                        </a:rPr>
                        <a:t>항목</a:t>
                      </a:r>
                    </a:p>
                  </a:txBody>
                  <a:tcPr marL="44401" marR="44401" marT="44401" marB="44401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" sz="1000" b="0" dirty="0">
                          <a:effectLst/>
                        </a:rPr>
                        <a:t>Cloud Run</a:t>
                      </a:r>
                    </a:p>
                  </a:txBody>
                  <a:tcPr marL="44401" marR="44401" marT="44401" marB="44401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" sz="1000" b="0">
                          <a:effectLst/>
                        </a:rPr>
                        <a:t>Lambda</a:t>
                      </a:r>
                    </a:p>
                  </a:txBody>
                  <a:tcPr marL="44401" marR="44401" marT="44401" marB="44401"/>
                </a:tc>
                <a:extLst>
                  <a:ext uri="{0D108BD9-81ED-4DB2-BD59-A6C34878D82A}">
                    <a16:rowId xmlns:a16="http://schemas.microsoft.com/office/drawing/2014/main" val="3486584821"/>
                  </a:ext>
                </a:extLst>
              </a:tr>
              <a:tr h="53201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코드 패키징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표준 </a:t>
                      </a:r>
                      <a:r>
                        <a:rPr lang="en-US" altLang="ko-KR" sz="1000" dirty="0">
                          <a:effectLst/>
                        </a:rPr>
                        <a:t>Docker </a:t>
                      </a:r>
                      <a:r>
                        <a:rPr lang="ko-KR" altLang="en-US" sz="1000" dirty="0">
                          <a:effectLst/>
                        </a:rPr>
                        <a:t>컨테이너</a:t>
                      </a:r>
                      <a:endParaRPr lang="en" sz="1000" dirty="0">
                        <a:effectLst/>
                      </a:endParaRP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코드 </a:t>
                      </a:r>
                      <a:r>
                        <a:rPr lang="en-US" altLang="ko-KR" sz="1000" dirty="0">
                          <a:effectLst/>
                        </a:rPr>
                        <a:t>+</a:t>
                      </a:r>
                      <a:r>
                        <a:rPr lang="ko-KR" altLang="en-US" sz="1000" dirty="0">
                          <a:effectLst/>
                        </a:rPr>
                        <a:t> 의존 </a:t>
                      </a:r>
                      <a:r>
                        <a:rPr lang="en-US" altLang="ko-KR" sz="1000" dirty="0">
                          <a:effectLst/>
                        </a:rPr>
                        <a:t>Zip + </a:t>
                      </a:r>
                      <a:r>
                        <a:rPr lang="ko-KR" altLang="en-US" sz="1000" dirty="0">
                          <a:effectLst/>
                        </a:rPr>
                        <a:t>레이어 관리</a:t>
                      </a:r>
                      <a:endParaRPr lang="en" sz="1000" dirty="0">
                        <a:effectLst/>
                      </a:endParaRPr>
                    </a:p>
                  </a:txBody>
                  <a:tcPr marL="44401" marR="44401" marT="26641" marB="26641" anchor="ctr"/>
                </a:tc>
                <a:extLst>
                  <a:ext uri="{0D108BD9-81ED-4DB2-BD59-A6C34878D82A}">
                    <a16:rowId xmlns:a16="http://schemas.microsoft.com/office/drawing/2014/main" val="48946773"/>
                  </a:ext>
                </a:extLst>
              </a:tr>
              <a:tr h="53201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요청 처리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1</a:t>
                      </a:r>
                      <a:r>
                        <a:rPr lang="ko-KR" altLang="en-US" sz="1000" dirty="0">
                          <a:effectLst/>
                        </a:rPr>
                        <a:t>개 컨테이너가 </a:t>
                      </a:r>
                      <a:r>
                        <a:rPr lang="en-US" altLang="ko-KR" sz="1000" dirty="0">
                          <a:effectLst/>
                        </a:rPr>
                        <a:t>80</a:t>
                      </a:r>
                      <a:r>
                        <a:rPr lang="ko-KR" altLang="en-US" sz="1000" dirty="0">
                          <a:effectLst/>
                        </a:rPr>
                        <a:t>개 요청 처리</a:t>
                      </a: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80</a:t>
                      </a:r>
                      <a:r>
                        <a:rPr lang="ko-KR" altLang="en-US" sz="1000" dirty="0">
                          <a:effectLst/>
                        </a:rPr>
                        <a:t>개 요청 </a:t>
                      </a:r>
                      <a:r>
                        <a:rPr lang="en-US" altLang="ko-KR" sz="1000" dirty="0">
                          <a:effectLst/>
                        </a:rPr>
                        <a:t>= 80</a:t>
                      </a:r>
                      <a:r>
                        <a:rPr lang="ko-KR" altLang="en-US" sz="1000" dirty="0">
                          <a:effectLst/>
                        </a:rPr>
                        <a:t>개 함수 인스턴스</a:t>
                      </a:r>
                    </a:p>
                  </a:txBody>
                  <a:tcPr marL="44401" marR="44401" marT="26641" marB="26641" anchor="ctr"/>
                </a:tc>
                <a:extLst>
                  <a:ext uri="{0D108BD9-81ED-4DB2-BD59-A6C34878D82A}">
                    <a16:rowId xmlns:a16="http://schemas.microsoft.com/office/drawing/2014/main" val="3068278682"/>
                  </a:ext>
                </a:extLst>
              </a:tr>
              <a:tr h="37241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요청 가격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$0.40/</a:t>
                      </a:r>
                      <a:r>
                        <a:rPr lang="ko-KR" altLang="en-US" sz="1000" dirty="0">
                          <a:effectLst/>
                        </a:rPr>
                        <a:t>백만 요청</a:t>
                      </a: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000">
                          <a:effectLst/>
                        </a:rPr>
                        <a:t>$0.20/</a:t>
                      </a:r>
                      <a:r>
                        <a:rPr lang="ko-KR" altLang="en-US" sz="1000">
                          <a:effectLst/>
                        </a:rPr>
                        <a:t>백만 요청</a:t>
                      </a:r>
                    </a:p>
                  </a:txBody>
                  <a:tcPr marL="44401" marR="44401" marT="26641" marB="26641" anchor="ctr"/>
                </a:tc>
                <a:extLst>
                  <a:ext uri="{0D108BD9-81ED-4DB2-BD59-A6C34878D82A}">
                    <a16:rowId xmlns:a16="http://schemas.microsoft.com/office/drawing/2014/main" val="3099366550"/>
                  </a:ext>
                </a:extLst>
              </a:tr>
              <a:tr h="53201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가격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" sz="1000">
                          <a:effectLst/>
                        </a:rPr>
                        <a:t>$0.000002500/vCPU-</a:t>
                      </a:r>
                      <a:r>
                        <a:rPr lang="ko-KR" altLang="en-US" sz="1000">
                          <a:effectLst/>
                        </a:rPr>
                        <a:t>초 </a:t>
                      </a:r>
                      <a:r>
                        <a:rPr lang="en-US" altLang="ko-KR" sz="1000">
                          <a:effectLst/>
                        </a:rPr>
                        <a:t>(1</a:t>
                      </a:r>
                      <a:r>
                        <a:rPr lang="en" sz="1000">
                          <a:effectLst/>
                        </a:rPr>
                        <a:t>vCPU </a:t>
                      </a:r>
                      <a:r>
                        <a:rPr lang="ko-KR" altLang="en-US" sz="1000">
                          <a:effectLst/>
                        </a:rPr>
                        <a:t>기준</a:t>
                      </a:r>
                      <a:r>
                        <a:rPr lang="en-US" altLang="ko-KR" sz="1000">
                          <a:effectLst/>
                        </a:rPr>
                        <a:t>)</a:t>
                      </a: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" sz="1000" dirty="0">
                          <a:effectLst/>
                        </a:rPr>
                        <a:t>$0.0000166667/GB-</a:t>
                      </a:r>
                      <a:r>
                        <a:rPr lang="ko-KR" altLang="en-US" sz="1000" dirty="0">
                          <a:effectLst/>
                        </a:rPr>
                        <a:t>초 </a:t>
                      </a:r>
                      <a:r>
                        <a:rPr lang="en-US" altLang="ko-KR" sz="1000" dirty="0">
                          <a:effectLst/>
                        </a:rPr>
                        <a:t>(512</a:t>
                      </a:r>
                      <a:r>
                        <a:rPr lang="en" sz="1000" dirty="0">
                          <a:effectLst/>
                        </a:rPr>
                        <a:t>MB </a:t>
                      </a:r>
                      <a:r>
                        <a:rPr lang="ko-KR" altLang="en-US" sz="1000" dirty="0">
                          <a:effectLst/>
                        </a:rPr>
                        <a:t>기준 약 같음</a:t>
                      </a:r>
                      <a:r>
                        <a:rPr lang="en-US" altLang="ko-KR" sz="1000" dirty="0">
                          <a:effectLst/>
                        </a:rPr>
                        <a:t>)</a:t>
                      </a:r>
                    </a:p>
                  </a:txBody>
                  <a:tcPr marL="44401" marR="44401" marT="26641" marB="26641" anchor="ctr"/>
                </a:tc>
                <a:extLst>
                  <a:ext uri="{0D108BD9-81ED-4DB2-BD59-A6C34878D82A}">
                    <a16:rowId xmlns:a16="http://schemas.microsoft.com/office/drawing/2014/main" val="3363375947"/>
                  </a:ext>
                </a:extLst>
              </a:tr>
              <a:tr h="69161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b="0">
                          <a:effectLst/>
                        </a:rPr>
                        <a:t>프리 티어</a:t>
                      </a:r>
                      <a:endParaRPr lang="ko-KR" altLang="en-US" sz="1000">
                        <a:effectLst/>
                      </a:endParaRP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000">
                          <a:effectLst/>
                        </a:rPr>
                        <a:t>180</a:t>
                      </a:r>
                      <a:r>
                        <a:rPr lang="ko-KR" altLang="en-US" sz="1000">
                          <a:effectLst/>
                        </a:rPr>
                        <a:t>만 </a:t>
                      </a:r>
                      <a:r>
                        <a:rPr lang="en" sz="1000">
                          <a:effectLst/>
                        </a:rPr>
                        <a:t>vCPU-</a:t>
                      </a:r>
                      <a:r>
                        <a:rPr lang="ko-KR" altLang="en-US" sz="1000">
                          <a:effectLst/>
                        </a:rPr>
                        <a:t>초</a:t>
                      </a:r>
                      <a:r>
                        <a:rPr lang="en-US" altLang="ko-KR" sz="1000">
                          <a:effectLst/>
                        </a:rPr>
                        <a:t>/</a:t>
                      </a:r>
                      <a:r>
                        <a:rPr lang="ko-KR" altLang="en-US" sz="1000">
                          <a:effectLst/>
                        </a:rPr>
                        <a:t>월 </a:t>
                      </a:r>
                      <a:r>
                        <a:rPr lang="en-US" altLang="ko-KR" sz="1000">
                          <a:effectLst/>
                        </a:rPr>
                        <a:t>+ 360</a:t>
                      </a:r>
                      <a:r>
                        <a:rPr lang="ko-KR" altLang="en-US" sz="1000">
                          <a:effectLst/>
                        </a:rPr>
                        <a:t>만 </a:t>
                      </a:r>
                      <a:r>
                        <a:rPr lang="en" sz="1000">
                          <a:effectLst/>
                        </a:rPr>
                        <a:t>GiB-</a:t>
                      </a:r>
                      <a:r>
                        <a:rPr lang="ko-KR" altLang="en-US" sz="1000">
                          <a:effectLst/>
                        </a:rPr>
                        <a:t>초</a:t>
                      </a:r>
                      <a:r>
                        <a:rPr lang="en-US" altLang="ko-KR" sz="1000">
                          <a:effectLst/>
                        </a:rPr>
                        <a:t>/</a:t>
                      </a:r>
                      <a:r>
                        <a:rPr lang="ko-KR" altLang="en-US" sz="1000">
                          <a:effectLst/>
                        </a:rPr>
                        <a:t>월 </a:t>
                      </a:r>
                      <a:r>
                        <a:rPr lang="en-US" altLang="ko-KR" sz="1000">
                          <a:effectLst/>
                        </a:rPr>
                        <a:t>+ 200</a:t>
                      </a:r>
                      <a:r>
                        <a:rPr lang="ko-KR" altLang="en-US" sz="1000">
                          <a:effectLst/>
                        </a:rPr>
                        <a:t>만 요청</a:t>
                      </a: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100</a:t>
                      </a:r>
                      <a:r>
                        <a:rPr lang="ko-KR" altLang="en-US" sz="1000" dirty="0">
                          <a:effectLst/>
                        </a:rPr>
                        <a:t>만 요청 </a:t>
                      </a:r>
                      <a:r>
                        <a:rPr lang="en-US" altLang="ko-KR" sz="1000" dirty="0">
                          <a:effectLst/>
                        </a:rPr>
                        <a:t>+ 40</a:t>
                      </a:r>
                      <a:r>
                        <a:rPr lang="ko-KR" altLang="en-US" sz="1000" dirty="0">
                          <a:effectLst/>
                        </a:rPr>
                        <a:t>만 </a:t>
                      </a:r>
                      <a:r>
                        <a:rPr lang="en" sz="1000" dirty="0">
                          <a:effectLst/>
                        </a:rPr>
                        <a:t>GB-</a:t>
                      </a:r>
                      <a:r>
                        <a:rPr lang="ko-KR" altLang="en-US" sz="1000" dirty="0">
                          <a:effectLst/>
                        </a:rPr>
                        <a:t>초</a:t>
                      </a:r>
                      <a:r>
                        <a:rPr lang="en-US" altLang="ko-KR" sz="1000" dirty="0">
                          <a:effectLst/>
                        </a:rPr>
                        <a:t>/</a:t>
                      </a:r>
                      <a:r>
                        <a:rPr lang="ko-KR" altLang="en-US" sz="1000" dirty="0">
                          <a:effectLst/>
                        </a:rPr>
                        <a:t>월</a:t>
                      </a:r>
                    </a:p>
                  </a:txBody>
                  <a:tcPr marL="44401" marR="44401" marT="26641" marB="26641" anchor="ctr"/>
                </a:tc>
                <a:extLst>
                  <a:ext uri="{0D108BD9-81ED-4DB2-BD59-A6C34878D82A}">
                    <a16:rowId xmlns:a16="http://schemas.microsoft.com/office/drawing/2014/main" val="3765879045"/>
                  </a:ext>
                </a:extLst>
              </a:tr>
              <a:tr h="69161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배포 방식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간편</a:t>
                      </a:r>
                    </a:p>
                  </a:txBody>
                  <a:tcPr marL="44401" marR="44401" marT="26641" marB="26641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복잡</a:t>
                      </a:r>
                      <a:endParaRPr lang="en" sz="1000" dirty="0">
                        <a:effectLst/>
                      </a:endParaRPr>
                    </a:p>
                  </a:txBody>
                  <a:tcPr marL="44401" marR="44401" marT="26641" marB="26641" anchor="ctr"/>
                </a:tc>
                <a:extLst>
                  <a:ext uri="{0D108BD9-81ED-4DB2-BD59-A6C34878D82A}">
                    <a16:rowId xmlns:a16="http://schemas.microsoft.com/office/drawing/2014/main" val="1822205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508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B404B-2A8F-1FC3-DA41-C738CFA3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554477"/>
            <a:ext cx="10515600" cy="1136211"/>
          </a:xfrm>
        </p:spPr>
        <p:txBody>
          <a:bodyPr/>
          <a:lstStyle/>
          <a:p>
            <a:r>
              <a:rPr kumimoji="1" lang="ko-KR" altLang="en-US" dirty="0"/>
              <a:t>언어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Python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0740F1-8484-E036-400B-45973D272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481" y="2039633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높은 라이브러리 완성도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빠른 개발 속도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코드 가독성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의존성 관리 용이성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1311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A50E73-F1F5-DFB2-8A6B-081C361C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564204"/>
            <a:ext cx="10515600" cy="1145939"/>
          </a:xfrm>
        </p:spPr>
        <p:txBody>
          <a:bodyPr/>
          <a:lstStyle/>
          <a:p>
            <a:r>
              <a:rPr kumimoji="1" lang="ko-KR" altLang="en-US" dirty="0"/>
              <a:t>프레임워크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AA5F203-B408-5525-ECD8-5348B1F12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185403"/>
              </p:ext>
            </p:extLst>
          </p:nvPr>
        </p:nvGraphicFramePr>
        <p:xfrm>
          <a:off x="1063412" y="1990997"/>
          <a:ext cx="10092268" cy="3725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3067">
                  <a:extLst>
                    <a:ext uri="{9D8B030D-6E8A-4147-A177-3AD203B41FA5}">
                      <a16:colId xmlns:a16="http://schemas.microsoft.com/office/drawing/2014/main" val="2302386631"/>
                    </a:ext>
                  </a:extLst>
                </a:gridCol>
                <a:gridCol w="2523067">
                  <a:extLst>
                    <a:ext uri="{9D8B030D-6E8A-4147-A177-3AD203B41FA5}">
                      <a16:colId xmlns:a16="http://schemas.microsoft.com/office/drawing/2014/main" val="651966000"/>
                    </a:ext>
                  </a:extLst>
                </a:gridCol>
                <a:gridCol w="2523067">
                  <a:extLst>
                    <a:ext uri="{9D8B030D-6E8A-4147-A177-3AD203B41FA5}">
                      <a16:colId xmlns:a16="http://schemas.microsoft.com/office/drawing/2014/main" val="1624657313"/>
                    </a:ext>
                  </a:extLst>
                </a:gridCol>
                <a:gridCol w="2523067">
                  <a:extLst>
                    <a:ext uri="{9D8B030D-6E8A-4147-A177-3AD203B41FA5}">
                      <a16:colId xmlns:a16="http://schemas.microsoft.com/office/drawing/2014/main" val="1337985097"/>
                    </a:ext>
                  </a:extLst>
                </a:gridCol>
              </a:tblGrid>
              <a:tr h="46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항목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/>
                        <a:t>FastAPI</a:t>
                      </a:r>
                      <a:endParaRPr lang="en" sz="16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/>
                        <a:t>Flask</a:t>
                      </a:r>
                      <a:endParaRPr lang="en" sz="16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/>
                        <a:t>Django</a:t>
                      </a:r>
                      <a:endParaRPr lang="en" sz="16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89130179"/>
                  </a:ext>
                </a:extLst>
              </a:tr>
              <a:tr h="46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처리 방식</a:t>
                      </a:r>
                      <a:endParaRPr lang="ko-KR" alt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비동기</a:t>
                      </a:r>
                      <a:r>
                        <a:rPr lang="en-US" altLang="ko-KR" sz="1600"/>
                        <a:t>(</a:t>
                      </a:r>
                      <a:r>
                        <a:rPr lang="en" sz="1600"/>
                        <a:t>ASGI)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동기</a:t>
                      </a:r>
                      <a:r>
                        <a:rPr lang="en-US" altLang="ko-KR" sz="1600"/>
                        <a:t>(</a:t>
                      </a:r>
                      <a:r>
                        <a:rPr lang="en" sz="1600"/>
                        <a:t>WSGI)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동기</a:t>
                      </a:r>
                      <a:r>
                        <a:rPr lang="en-US" altLang="ko-KR" sz="1600" dirty="0"/>
                        <a:t>(</a:t>
                      </a:r>
                      <a:r>
                        <a:rPr lang="en" sz="1600" dirty="0"/>
                        <a:t>WSGI)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155523544"/>
                  </a:ext>
                </a:extLst>
              </a:tr>
              <a:tr h="46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속도</a:t>
                      </a:r>
                      <a:endParaRPr lang="ko-KR" altLang="en-US" sz="16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매우 빠름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보통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느린 편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556910701"/>
                  </a:ext>
                </a:extLst>
              </a:tr>
              <a:tr h="46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파일 업로드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en" sz="1600" b="1" dirty="0"/>
                        <a:t>Excel)</a:t>
                      </a:r>
                      <a:endParaRPr lang="en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매우 쉬움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쉬움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쉬움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727539215"/>
                  </a:ext>
                </a:extLst>
              </a:tr>
              <a:tr h="46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/>
                        <a:t>Slack Bot </a:t>
                      </a:r>
                      <a:r>
                        <a:rPr lang="ko-KR" altLang="en-US" sz="1600" b="1"/>
                        <a:t>연동</a:t>
                      </a:r>
                      <a:endParaRPr lang="ko-KR" altLang="en-US" sz="16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최적 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비동기 지원</a:t>
                      </a:r>
                      <a:r>
                        <a:rPr lang="en-US" altLang="ko-KR" sz="1600" dirty="0"/>
                        <a:t>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가능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가능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33574761"/>
                  </a:ext>
                </a:extLst>
              </a:tr>
              <a:tr h="46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/>
                        <a:t>Notion API </a:t>
                      </a:r>
                      <a:r>
                        <a:rPr lang="ko-KR" altLang="en-US" sz="1600" b="1"/>
                        <a:t>연동</a:t>
                      </a:r>
                      <a:endParaRPr lang="ko-KR" altLang="en-US" sz="16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매우 편함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가능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가능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948034209"/>
                  </a:ext>
                </a:extLst>
              </a:tr>
              <a:tr h="46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임베딩</a:t>
                      </a:r>
                      <a:r>
                        <a:rPr lang="en-US" altLang="ko-KR" sz="1600" b="1"/>
                        <a:t>/</a:t>
                      </a:r>
                      <a:r>
                        <a:rPr lang="en" sz="1600" b="1"/>
                        <a:t>FAISS</a:t>
                      </a:r>
                      <a:r>
                        <a:rPr lang="ko-KR" altLang="en-US" sz="1600" b="1"/>
                        <a:t>와의 궁합</a:t>
                      </a:r>
                      <a:endParaRPr lang="ko-KR" altLang="en-US" sz="16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최적 </a:t>
                      </a: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비동기 대량 처리</a:t>
                      </a:r>
                      <a:r>
                        <a:rPr lang="en-US" altLang="ko-KR" sz="1600"/>
                        <a:t>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보통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보통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677323608"/>
                  </a:ext>
                </a:extLst>
              </a:tr>
              <a:tr h="46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확장성</a:t>
                      </a:r>
                      <a:endParaRPr lang="ko-KR" altLang="en-US" sz="16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매우 높음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중간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매우 높지만 과함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835121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740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C7B86-6688-7105-D244-0B0853BE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12" y="564205"/>
            <a:ext cx="10515600" cy="1145939"/>
          </a:xfrm>
        </p:spPr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</a:t>
            </a:r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초기 파일 업로드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98AEBC-178D-7834-3CD2-BF41E6CC8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59" y="2005541"/>
            <a:ext cx="10096743" cy="278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04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F1EFC-D3E3-4D7F-544B-45CA2071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555414"/>
            <a:ext cx="10515600" cy="1148821"/>
          </a:xfrm>
        </p:spPr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</a:t>
            </a:r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flowchart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65B301-209D-70B1-4A93-D54A7772C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59" y="1988988"/>
            <a:ext cx="10061749" cy="268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96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D6FC5-ABFB-3F9B-4A03-11C0C2514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554477"/>
            <a:ext cx="10515600" cy="1126484"/>
          </a:xfrm>
        </p:spPr>
        <p:txBody>
          <a:bodyPr>
            <a:normAutofit fontScale="90000"/>
          </a:bodyPr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</a:t>
            </a:r>
            <a:r>
              <a:rPr kumimoji="1" lang="en-US" altLang="ko-KR" dirty="0"/>
              <a:t>2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데이터 추가 및 </a:t>
            </a:r>
            <a:r>
              <a:rPr kumimoji="1" lang="en-US" altLang="ko-KR" dirty="0"/>
              <a:t>Top1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E6B446-9B02-22C8-BB1E-AA509F4BA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" y="1990981"/>
            <a:ext cx="10043160" cy="473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34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02D7C-89B6-DDE3-D77A-379F7AC1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187"/>
            <a:ext cx="10515600" cy="1128501"/>
          </a:xfrm>
        </p:spPr>
        <p:txBody>
          <a:bodyPr>
            <a:normAutofit fontScale="90000"/>
          </a:bodyPr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</a:t>
            </a:r>
            <a:r>
              <a:rPr kumimoji="1" lang="en-US" altLang="ko-KR" dirty="0"/>
              <a:t>3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데이터 추가 및 </a:t>
            </a:r>
            <a:r>
              <a:rPr kumimoji="1" lang="en-US" altLang="ko-KR" dirty="0"/>
              <a:t>Top3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40BBD0-3ED5-6ACC-AFB3-F71BD958C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33" y="1984208"/>
            <a:ext cx="10083800" cy="475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4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6EE92-75C5-D956-7F2A-697C6BED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</a:t>
            </a:r>
            <a:r>
              <a:rPr kumimoji="1" lang="en-US" altLang="ko-KR" dirty="0"/>
              <a:t>2,3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flowchart</a:t>
            </a:r>
            <a:endParaRPr kumimoji="1"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834B9B0-CBC6-5477-1F55-5499FF776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32" y="2004127"/>
            <a:ext cx="10115844" cy="14421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C20AF8C-77A5-D5FB-BC1C-7E6B6955E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32" y="4154973"/>
            <a:ext cx="10115844" cy="13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0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B3C6B-920C-12EF-EB25-A85F1DA2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57" y="554477"/>
            <a:ext cx="10515600" cy="1136211"/>
          </a:xfrm>
        </p:spPr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</a:t>
            </a:r>
            <a:r>
              <a:rPr kumimoji="1" lang="en-US" altLang="ko-KR" dirty="0"/>
              <a:t>4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엑셀로 반환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89ACCF7-AD7D-22EC-C897-CAD9C2FED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8771" y="1994296"/>
            <a:ext cx="10074457" cy="286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0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361A2-4D2A-7A49-E8A9-9DCFC5E9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ExcelBot</a:t>
            </a:r>
            <a:r>
              <a:rPr kumimoji="1" lang="en-US" altLang="ko-KR" dirty="0"/>
              <a:t> </a:t>
            </a:r>
            <a:r>
              <a:rPr kumimoji="1" lang="ko-KR" altLang="en-US" dirty="0"/>
              <a:t>시나리오</a:t>
            </a:r>
            <a:r>
              <a:rPr kumimoji="1" lang="en-US" altLang="ko-KR" dirty="0"/>
              <a:t>4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flowchart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03D585-F529-4A7F-F617-F184F9CED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1990271"/>
            <a:ext cx="10111532" cy="250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85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31C69-E1EE-8D26-5D02-14F4BF76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554477"/>
            <a:ext cx="10515600" cy="1145939"/>
          </a:xfrm>
        </p:spPr>
        <p:txBody>
          <a:bodyPr/>
          <a:lstStyle/>
          <a:p>
            <a:r>
              <a:rPr kumimoji="1" lang="ko-KR" altLang="en-US" dirty="0"/>
              <a:t>개발 일정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7CDE403-48FD-C4BC-D76B-942B68E94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680483"/>
              </p:ext>
            </p:extLst>
          </p:nvPr>
        </p:nvGraphicFramePr>
        <p:xfrm>
          <a:off x="576944" y="2000723"/>
          <a:ext cx="11038111" cy="35817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2733">
                  <a:extLst>
                    <a:ext uri="{9D8B030D-6E8A-4147-A177-3AD203B41FA5}">
                      <a16:colId xmlns:a16="http://schemas.microsoft.com/office/drawing/2014/main" val="2805976171"/>
                    </a:ext>
                  </a:extLst>
                </a:gridCol>
                <a:gridCol w="1045054">
                  <a:extLst>
                    <a:ext uri="{9D8B030D-6E8A-4147-A177-3AD203B41FA5}">
                      <a16:colId xmlns:a16="http://schemas.microsoft.com/office/drawing/2014/main" val="3806912978"/>
                    </a:ext>
                  </a:extLst>
                </a:gridCol>
                <a:gridCol w="1045054">
                  <a:extLst>
                    <a:ext uri="{9D8B030D-6E8A-4147-A177-3AD203B41FA5}">
                      <a16:colId xmlns:a16="http://schemas.microsoft.com/office/drawing/2014/main" val="458667991"/>
                    </a:ext>
                  </a:extLst>
                </a:gridCol>
                <a:gridCol w="1045054">
                  <a:extLst>
                    <a:ext uri="{9D8B030D-6E8A-4147-A177-3AD203B41FA5}">
                      <a16:colId xmlns:a16="http://schemas.microsoft.com/office/drawing/2014/main" val="80744717"/>
                    </a:ext>
                  </a:extLst>
                </a:gridCol>
                <a:gridCol w="1045054">
                  <a:extLst>
                    <a:ext uri="{9D8B030D-6E8A-4147-A177-3AD203B41FA5}">
                      <a16:colId xmlns:a16="http://schemas.microsoft.com/office/drawing/2014/main" val="3101985898"/>
                    </a:ext>
                  </a:extLst>
                </a:gridCol>
                <a:gridCol w="1045054">
                  <a:extLst>
                    <a:ext uri="{9D8B030D-6E8A-4147-A177-3AD203B41FA5}">
                      <a16:colId xmlns:a16="http://schemas.microsoft.com/office/drawing/2014/main" val="826937556"/>
                    </a:ext>
                  </a:extLst>
                </a:gridCol>
                <a:gridCol w="1045054">
                  <a:extLst>
                    <a:ext uri="{9D8B030D-6E8A-4147-A177-3AD203B41FA5}">
                      <a16:colId xmlns:a16="http://schemas.microsoft.com/office/drawing/2014/main" val="538450784"/>
                    </a:ext>
                  </a:extLst>
                </a:gridCol>
                <a:gridCol w="1045054">
                  <a:extLst>
                    <a:ext uri="{9D8B030D-6E8A-4147-A177-3AD203B41FA5}">
                      <a16:colId xmlns:a16="http://schemas.microsoft.com/office/drawing/2014/main" val="638379072"/>
                    </a:ext>
                  </a:extLst>
                </a:gridCol>
              </a:tblGrid>
              <a:tr h="8954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94774"/>
                  </a:ext>
                </a:extLst>
              </a:tr>
              <a:tr h="8954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열 가중치 계산 및 정확도 개선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━━━━━━━━━━━━━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675990"/>
                  </a:ext>
                </a:extLst>
              </a:tr>
              <a:tr h="8954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로컬 환경에서 개발 및 테스트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━━━━━━━━━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334552"/>
                  </a:ext>
                </a:extLst>
              </a:tr>
              <a:tr h="8954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배포</a:t>
                      </a:r>
                      <a:endParaRPr lang="en-US" altLang="ko-KR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</a:t>
                      </a:r>
                      <a:endParaRPr lang="en-US" altLang="ko-K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━━━━━━━                                                 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286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28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15569</TotalTime>
  <Words>1900</Words>
  <Application>Microsoft Macintosh PowerPoint</Application>
  <PresentationFormat>와이드스크린</PresentationFormat>
  <Paragraphs>342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ExcelBot</vt:lpstr>
      <vt:lpstr>프로젝트 개요</vt:lpstr>
      <vt:lpstr>정량적 목표</vt:lpstr>
      <vt:lpstr>Train/Test 비율 8:2 선정 이유</vt:lpstr>
      <vt:lpstr>유사도 측정 방식</vt:lpstr>
      <vt:lpstr>열 가중치 계산을 통한 추천 주류 생성</vt:lpstr>
      <vt:lpstr>유사도에 따른 추천 이유 생성</vt:lpstr>
      <vt:lpstr>LLM 모델 선정</vt:lpstr>
      <vt:lpstr>임베딩 모델 크기에 따른 성능 비교</vt:lpstr>
      <vt:lpstr>메서드</vt:lpstr>
      <vt:lpstr>Train/Test 프로세스</vt:lpstr>
      <vt:lpstr>배포 방식 결정</vt:lpstr>
      <vt:lpstr>Slack 봇 자동화: Notion DB vs Excel 비교</vt:lpstr>
      <vt:lpstr>Cloud Run vs Lambda</vt:lpstr>
      <vt:lpstr>언어: Python</vt:lpstr>
      <vt:lpstr>프레임워크</vt:lpstr>
      <vt:lpstr>ExcelBot 시나리오1 - 초기 파일 업로드</vt:lpstr>
      <vt:lpstr>ExcelBot 시나리오1 - flowchart</vt:lpstr>
      <vt:lpstr>ExcelBot 시나리오2 - 데이터 추가 및 Top1</vt:lpstr>
      <vt:lpstr>ExcelBot 시나리오3 - 데이터 추가 및 Top3</vt:lpstr>
      <vt:lpstr>ExcelBot 시나리오2,3 - flowchart</vt:lpstr>
      <vt:lpstr>ExcelBot 시나리오4 - 엑셀로 반환</vt:lpstr>
      <vt:lpstr>ExcelBot 시나리오4 - flowchart</vt:lpstr>
      <vt:lpstr>개발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최명재</dc:creator>
  <cp:lastModifiedBy>최명재</cp:lastModifiedBy>
  <cp:revision>8</cp:revision>
  <dcterms:created xsi:type="dcterms:W3CDTF">2025-11-12T05:30:32Z</dcterms:created>
  <dcterms:modified xsi:type="dcterms:W3CDTF">2025-11-23T00:59:43Z</dcterms:modified>
</cp:coreProperties>
</file>